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SCNU Lens를 만든 이휴단입니다. SCNU Lens는 순천대 게시판 112곳과 교외 장학금·자격증·공모전 정보를 한 앱에 모아서, 나에게 맞는 것만 마감 전에 알려 주는 캠퍼스 알리미입니다. (팀 이름이 있으면 이름 옆에 적어 주세요)</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순천대 공지는 본부와 학과·부속기관 게시판 112곳에 흩어져 있고, 장학금·자격증 시험·공모전은 또 다른 사이트 네 곳에 있습니다. 실제로 모은 공지 159건 중 87건은 신청 기간이나 대상이 본문이 아니라 첨부 한글 파일 안에 있었고, 18건은 여러 게시판에 중복으로 올라왔습니다. 게다가 시험이나 장학은 '접수 기간'으로 적혀 있어서 지금 신청할 수 있는지 한눈에 안 보입니다. 결국 마감이 지나서야 알게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처음에 학과와 관심사를 30초 만에 고르면, 그다음부터는 사이트를 찾아다닐 필요가 없습니다. 나에게 맞는 공지를 이유와 함께 보여 주고, 접수 기간인 공지는 '10월 12일 접수 시작', '접수중 D-3'처럼 지금 상태를 표시합니다. 공지를 누르면 첨부파일까지 읽어서 대상·기간·신청방법을 표로 정리해 보여 주고, 마감 7·3·1일 전과 접수 시작 때 휴대폰으로 알려 줍니다.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구조는 네 단계입니다. 매시간 학교 게시판 112곳을 크롤링하고, 교외 정보는 공공데이터포털 공식 API 네 종류로 받습니다. 본문뿐 아니라 HWP·PDF 같은 첨부파일 글자까지 읽고, 여러 게시판에 올라온 같은 공지는 하나로 묶습니다. 그다음 서버 안에서 돌아가는 다국어 임베딩 모델로 분야를 나누고, 규칙으로 접수 시작일·마감일·시험일을 뽑고, 대상·기간·신청방법을 표로 만듭니다. 마지막으로 학과·관심사에 맞춰 이유와 함께 보여 주고 웹 푸시로 알립니다. 외부 AI API를 쓰지 않아 AI 비용은 0원이고, 자동 테스트 135개로 규칙을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지금부터 시연하겠습니다. (1) 학과 입력에 '컴공'만 쳐도 컴퓨터공학전공이 나옵니다. (2) 알림은 녹화해 둔 영상으로 보여 드리겠습니다. (3) '나에게' 탭에서 내 학과 공지를 누르면 정리 카드가 열리고, 원문 버튼으로 학교 게시판에 바로 갑니다. (4) 교외 탭에서는 장학금·자격증을 '접수 예정', '접수중'으로 나눠 보고, 접수 시작순으로 정렬할 수 있습니다. (5) 캘린더에서 날짜를 누르면 그날 마감과 지금 접수중인 목록이 나옵니다. (오른쪽 위 '열기' 버튼 = 사이트)</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기대 효과는 네 가지입니다. 사이트를 돌아다니는 시간이 줄고, 알림으로 마감을 덜 놓치고, 교외 장학·자격증까지 발견하고, 신입생도 선배 없이 같은 정보를 얻습니다. 앞으로는 첫째, 지금은 무료 서버라 대형 LLM을 못 올렸는데, LLM을 붙이면 대화로 알림 규칙을 만들 수 있습니다. 둘째, 첨부 HWP·PDF 글자는 이미 읽고 있어서, 다음 단계는 표 안의 날짜와 이미지 포스터 인식입니다. 셋째, 시간표·전자출결과 연결해 공강 시간에 할 일을 추천하는 하루 체크리스트로 넓힐 수 있습니다(학교 협조 필요). 넷째, 토익처럼 공식 API가 없는 시험은 직접 입력 일정으로 대응하고, 게시판 목록만 바꾸면 다른 대학에도 쓸 수 있습니다. 운영비가 0원이라 학생에게는 무료로, 대학·학과 단위 공식 알리미로 도입하는 모델을 생각하고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들어 주셔서 감사합니다. 화면의 QR로 바로 써 보실 수 있습니다. 질문 받겠습니다.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hyperlink" Target="https://scnuaram.vercel.app" TargetMode="Externa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cnuaram.vercel.app" TargetMode="External"/><Relationship Id="rId3" Type="http://schemas.openxmlformats.org/officeDocument/2006/relationships/image" Target="../media/image8.png"/><Relationship Id="rId4"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545"/>
        </a:solidFill>
        <a:effectLst/>
      </p:bgPr>
    </p:bg>
    <p:spTree>
      <p:nvGrpSpPr>
        <p:cNvPr id="1" name=""/>
        <p:cNvGrpSpPr/>
        <p:nvPr/>
      </p:nvGrpSpPr>
      <p:grpSpPr/>
      <p:sp>
        <p:nvSpPr>
          <p:cNvPr id="2" name="TextBox 1"/>
          <p:cNvSpPr txBox="1"/>
          <p:nvPr/>
        </p:nvSpPr>
        <p:spPr>
          <a:xfrm>
            <a:off x="731520" y="1234440"/>
            <a:ext cx="6858000" cy="365760"/>
          </a:xfrm>
          <a:prstGeom prst="rect">
            <a:avLst/>
          </a:prstGeom>
          <a:noFill/>
        </p:spPr>
        <p:txBody>
          <a:bodyPr wrap="square" lIns="0" rIns="0" tIns="0" bIns="0" anchor="t">
            <a:spAutoFit/>
          </a:bodyPr>
          <a:lstStyle/>
          <a:p>
            <a:pPr algn="l"/>
            <a:r>
              <a:rPr sz="1400" b="1">
                <a:solidFill>
                  <a:srgbClr val="A9CBF2"/>
                </a:solidFill>
                <a:latin typeface="Malgun Gothic"/>
                <a:ea typeface="Malgun Gothic"/>
                <a:cs typeface="Malgun Gothic"/>
              </a:rPr>
              <a:t>2026 SCNU OSS·AI 해커톤 · 기초 트랙</a:t>
            </a:r>
          </a:p>
        </p:txBody>
      </p:sp>
      <p:pic>
        <p:nvPicPr>
          <p:cNvPr id="3" name="Picture 2" descr="icon-512.png"/>
          <p:cNvPicPr>
            <a:picLocks noChangeAspect="1"/>
          </p:cNvPicPr>
          <p:nvPr/>
        </p:nvPicPr>
        <p:blipFill>
          <a:blip r:embed="rId2"/>
          <a:stretch>
            <a:fillRect/>
          </a:stretch>
        </p:blipFill>
        <p:spPr>
          <a:xfrm>
            <a:off x="731520" y="1828800"/>
            <a:ext cx="868680" cy="868680"/>
          </a:xfrm>
          <a:prstGeom prst="rect">
            <a:avLst/>
          </a:prstGeom>
        </p:spPr>
      </p:pic>
      <p:sp>
        <p:nvSpPr>
          <p:cNvPr id="4" name="TextBox 3"/>
          <p:cNvSpPr txBox="1"/>
          <p:nvPr/>
        </p:nvSpPr>
        <p:spPr>
          <a:xfrm>
            <a:off x="1783080" y="1810512"/>
            <a:ext cx="5943600" cy="914400"/>
          </a:xfrm>
          <a:prstGeom prst="rect">
            <a:avLst/>
          </a:prstGeom>
          <a:noFill/>
        </p:spPr>
        <p:txBody>
          <a:bodyPr wrap="square" lIns="0" rIns="0" tIns="0" bIns="0" anchor="ctr">
            <a:spAutoFit/>
          </a:bodyPr>
          <a:lstStyle/>
          <a:p>
            <a:pPr algn="l"/>
            <a:r>
              <a:rPr sz="5400" b="1">
                <a:solidFill>
                  <a:srgbClr val="FFFFFF"/>
                </a:solidFill>
                <a:latin typeface="Malgun Gothic"/>
                <a:ea typeface="Malgun Gothic"/>
                <a:cs typeface="Malgun Gothic"/>
              </a:rPr>
              <a:t>SCNU Lens</a:t>
            </a:r>
          </a:p>
        </p:txBody>
      </p:sp>
      <p:sp>
        <p:nvSpPr>
          <p:cNvPr id="5" name="TextBox 4"/>
          <p:cNvSpPr txBox="1"/>
          <p:nvPr/>
        </p:nvSpPr>
        <p:spPr>
          <a:xfrm>
            <a:off x="749808" y="3017520"/>
            <a:ext cx="6949440" cy="1280160"/>
          </a:xfrm>
          <a:prstGeom prst="rect">
            <a:avLst/>
          </a:prstGeom>
          <a:noFill/>
        </p:spPr>
        <p:txBody>
          <a:bodyPr wrap="square" lIns="0" rIns="0" tIns="0" bIns="0" anchor="t">
            <a:spAutoFit/>
          </a:bodyPr>
          <a:lstStyle/>
          <a:p>
            <a:pPr algn="l">
              <a:spcAft>
                <a:spcPts val="400"/>
              </a:spcAft>
            </a:pPr>
            <a:r>
              <a:rPr sz="2600" b="1">
                <a:solidFill>
                  <a:srgbClr val="FFFFFF"/>
                </a:solidFill>
                <a:latin typeface="Malgun Gothic"/>
                <a:ea typeface="Malgun Gothic"/>
                <a:cs typeface="Malgun Gothic"/>
              </a:rPr>
              <a:t>게시판 112곳을 돌지 않아도,</a:t>
            </a:r>
          </a:p>
          <a:p>
            <a:pPr algn="l">
              <a:spcAft>
                <a:spcPts val="400"/>
              </a:spcAft>
            </a:pPr>
            <a:r>
              <a:rPr sz="2600" b="1">
                <a:solidFill>
                  <a:srgbClr val="FFFFFF"/>
                </a:solidFill>
                <a:latin typeface="Malgun Gothic"/>
                <a:ea typeface="Malgun Gothic"/>
                <a:cs typeface="Malgun Gothic"/>
              </a:rPr>
              <a:t>나에게 맞는 공지가 마감 전에 옵니다</a:t>
            </a:r>
          </a:p>
        </p:txBody>
      </p:sp>
      <p:sp>
        <p:nvSpPr>
          <p:cNvPr id="6" name="TextBox 5"/>
          <p:cNvSpPr txBox="1"/>
          <p:nvPr/>
        </p:nvSpPr>
        <p:spPr>
          <a:xfrm>
            <a:off x="749808" y="4343400"/>
            <a:ext cx="6949440" cy="822960"/>
          </a:xfrm>
          <a:prstGeom prst="rect">
            <a:avLst/>
          </a:prstGeom>
          <a:noFill/>
        </p:spPr>
        <p:txBody>
          <a:bodyPr wrap="square" lIns="0" rIns="0" tIns="0" bIns="0" anchor="t">
            <a:spAutoFit/>
          </a:bodyPr>
          <a:lstStyle/>
          <a:p>
            <a:pPr algn="l"/>
            <a:r>
              <a:rPr sz="1500" b="0">
                <a:solidFill>
                  <a:srgbClr val="A9CBF2"/>
                </a:solidFill>
                <a:latin typeface="Malgun Gothic"/>
                <a:ea typeface="Malgun Gothic"/>
                <a:cs typeface="Malgun Gothic"/>
              </a:rPr>
              <a:t>순천대 공지 + 교외 장학금·자격증·공모전을 한 앱에서 모아 정리하고 알려 주는 캠퍼스 알리미</a:t>
            </a:r>
          </a:p>
        </p:txBody>
      </p:sp>
      <p:sp>
        <p:nvSpPr>
          <p:cNvPr id="7" name="TextBox 6"/>
          <p:cNvSpPr txBox="1"/>
          <p:nvPr/>
        </p:nvSpPr>
        <p:spPr>
          <a:xfrm>
            <a:off x="749808" y="5669280"/>
            <a:ext cx="6949440" cy="365760"/>
          </a:xfrm>
          <a:prstGeom prst="rect">
            <a:avLst/>
          </a:prstGeom>
          <a:noFill/>
        </p:spPr>
        <p:txBody>
          <a:bodyPr wrap="square" lIns="0" rIns="0" tIns="0" bIns="0" anchor="t">
            <a:spAutoFit/>
          </a:bodyPr>
          <a:lstStyle/>
          <a:p>
            <a:pPr algn="l"/>
            <a:r>
              <a:rPr sz="1400" b="1">
                <a:solidFill>
                  <a:srgbClr val="FFFFFF"/>
                </a:solidFill>
                <a:latin typeface="Malgun Gothic"/>
                <a:ea typeface="Malgun Gothic"/>
                <a:cs typeface="Malgun Gothic"/>
              </a:rPr>
              <a:t>이휴단</a:t>
            </a:r>
            <a:r>
              <a:rPr sz="1400" b="0">
                <a:solidFill>
                  <a:srgbClr val="A9CBF2"/>
                </a:solidFill>
                <a:latin typeface="Malgun Gothic"/>
                <a:ea typeface="Malgun Gothic"/>
                <a:cs typeface="Malgun Gothic"/>
              </a:rPr>
              <a:t>   ·   scnuaram.vercel.app</a:t>
            </a:r>
          </a:p>
        </p:txBody>
      </p:sp>
      <p:sp>
        <p:nvSpPr>
          <p:cNvPr id="8" name="Rounded Rectangle 7"/>
          <p:cNvSpPr/>
          <p:nvPr/>
        </p:nvSpPr>
        <p:spPr>
          <a:xfrm>
            <a:off x="8522208" y="612648"/>
            <a:ext cx="2681488" cy="5632704"/>
          </a:xfrm>
          <a:prstGeom prst="roundRect">
            <a:avLst>
              <a:gd name="adj" fmla="val 8000"/>
            </a:avLst>
          </a:prstGeom>
          <a:solidFill>
            <a:srgbClr val="1111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1-for-me-open.png"/>
          <p:cNvPicPr>
            <a:picLocks noChangeAspect="1"/>
          </p:cNvPicPr>
          <p:nvPr/>
        </p:nvPicPr>
        <p:blipFill>
          <a:blip r:embed="rId3"/>
          <a:stretch>
            <a:fillRect/>
          </a:stretch>
        </p:blipFill>
        <p:spPr>
          <a:xfrm>
            <a:off x="8595360" y="685800"/>
            <a:ext cx="2535184" cy="54864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594360" y="457200"/>
            <a:ext cx="10972800" cy="731520"/>
          </a:xfrm>
          <a:prstGeom prst="rect">
            <a:avLst/>
          </a:prstGeom>
          <a:noFill/>
        </p:spPr>
        <p:txBody>
          <a:bodyPr wrap="square" lIns="0" rIns="0" tIns="0" bIns="0" anchor="t">
            <a:spAutoFit/>
          </a:bodyPr>
          <a:lstStyle/>
          <a:p>
            <a:pPr algn="l"/>
            <a:r>
              <a:rPr sz="3000" b="1">
                <a:solidFill>
                  <a:srgbClr val="1F232B"/>
                </a:solidFill>
                <a:latin typeface="Malgun Gothic"/>
                <a:ea typeface="Malgun Gothic"/>
                <a:cs typeface="Malgun Gothic"/>
              </a:rPr>
              <a:t>공지 하나 보려고, 사이트 100곳 넘게 돌아야 합니다</a:t>
            </a:r>
          </a:p>
        </p:txBody>
      </p:sp>
      <p:sp>
        <p:nvSpPr>
          <p:cNvPr id="3" name="Rounded Rectangle 2"/>
          <p:cNvSpPr/>
          <p:nvPr/>
        </p:nvSpPr>
        <p:spPr>
          <a:xfrm>
            <a:off x="594360" y="1463040"/>
            <a:ext cx="2606040" cy="1920240"/>
          </a:xfrm>
          <a:prstGeom prst="roundRect">
            <a:avLst>
              <a:gd name="adj" fmla="val 7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45920"/>
            <a:ext cx="2194560" cy="640080"/>
          </a:xfrm>
          <a:prstGeom prst="rect">
            <a:avLst/>
          </a:prstGeom>
          <a:noFill/>
        </p:spPr>
        <p:txBody>
          <a:bodyPr wrap="square" lIns="0" rIns="0" tIns="0" bIns="0" anchor="t">
            <a:spAutoFit/>
          </a:bodyPr>
          <a:lstStyle/>
          <a:p>
            <a:pPr algn="l"/>
            <a:r>
              <a:rPr sz="3000" b="1">
                <a:solidFill>
                  <a:srgbClr val="0058B2"/>
                </a:solidFill>
                <a:latin typeface="Malgun Gothic"/>
                <a:ea typeface="Malgun Gothic"/>
                <a:cs typeface="Malgun Gothic"/>
              </a:rPr>
              <a:t>112곳</a:t>
            </a:r>
          </a:p>
        </p:txBody>
      </p:sp>
      <p:sp>
        <p:nvSpPr>
          <p:cNvPr id="5" name="TextBox 4"/>
          <p:cNvSpPr txBox="1"/>
          <p:nvPr/>
        </p:nvSpPr>
        <p:spPr>
          <a:xfrm>
            <a:off x="822960" y="2331720"/>
            <a:ext cx="2194560" cy="365760"/>
          </a:xfrm>
          <a:prstGeom prst="rect">
            <a:avLst/>
          </a:prstGeom>
          <a:noFill/>
        </p:spPr>
        <p:txBody>
          <a:bodyPr wrap="square" lIns="0" rIns="0" tIns="0" bIns="0" anchor="t">
            <a:spAutoFit/>
          </a:bodyPr>
          <a:lstStyle/>
          <a:p>
            <a:pPr algn="l"/>
            <a:r>
              <a:rPr sz="1400" b="1">
                <a:solidFill>
                  <a:srgbClr val="1F232B"/>
                </a:solidFill>
                <a:latin typeface="Malgun Gothic"/>
                <a:ea typeface="Malgun Gothic"/>
                <a:cs typeface="Malgun Gothic"/>
              </a:rPr>
              <a:t>학교 게시판</a:t>
            </a:r>
          </a:p>
        </p:txBody>
      </p:sp>
      <p:sp>
        <p:nvSpPr>
          <p:cNvPr id="6" name="TextBox 5"/>
          <p:cNvSpPr txBox="1"/>
          <p:nvPr/>
        </p:nvSpPr>
        <p:spPr>
          <a:xfrm>
            <a:off x="822960" y="2697480"/>
            <a:ext cx="2240280" cy="640080"/>
          </a:xfrm>
          <a:prstGeom prst="rect">
            <a:avLst/>
          </a:prstGeom>
          <a:noFill/>
        </p:spPr>
        <p:txBody>
          <a:bodyPr wrap="square" lIns="0" rIns="0" tIns="0" bIns="0" anchor="t">
            <a:spAutoFit/>
          </a:bodyPr>
          <a:lstStyle/>
          <a:p>
            <a:pPr algn="l"/>
            <a:r>
              <a:rPr sz="1050" b="0">
                <a:solidFill>
                  <a:srgbClr val="666E7A"/>
                </a:solidFill>
                <a:latin typeface="Malgun Gothic"/>
                <a:ea typeface="Malgun Gothic"/>
                <a:cs typeface="Malgun Gothic"/>
              </a:rPr>
              <a:t>본부 2곳 + 학과·부속기관 110곳</a:t>
            </a:r>
          </a:p>
        </p:txBody>
      </p:sp>
      <p:sp>
        <p:nvSpPr>
          <p:cNvPr id="7" name="Rounded Rectangle 6"/>
          <p:cNvSpPr/>
          <p:nvPr/>
        </p:nvSpPr>
        <p:spPr>
          <a:xfrm>
            <a:off x="3383279" y="1463040"/>
            <a:ext cx="2606040" cy="1920240"/>
          </a:xfrm>
          <a:prstGeom prst="roundRect">
            <a:avLst>
              <a:gd name="adj" fmla="val 7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11879" y="1645920"/>
            <a:ext cx="2194560" cy="640080"/>
          </a:xfrm>
          <a:prstGeom prst="rect">
            <a:avLst/>
          </a:prstGeom>
          <a:noFill/>
        </p:spPr>
        <p:txBody>
          <a:bodyPr wrap="square" lIns="0" rIns="0" tIns="0" bIns="0" anchor="t">
            <a:spAutoFit/>
          </a:bodyPr>
          <a:lstStyle/>
          <a:p>
            <a:pPr algn="l"/>
            <a:r>
              <a:rPr sz="3000" b="1">
                <a:solidFill>
                  <a:srgbClr val="0058B2"/>
                </a:solidFill>
                <a:latin typeface="Malgun Gothic"/>
                <a:ea typeface="Malgun Gothic"/>
                <a:cs typeface="Malgun Gothic"/>
              </a:rPr>
              <a:t>+4곳</a:t>
            </a:r>
          </a:p>
        </p:txBody>
      </p:sp>
      <p:sp>
        <p:nvSpPr>
          <p:cNvPr id="9" name="TextBox 8"/>
          <p:cNvSpPr txBox="1"/>
          <p:nvPr/>
        </p:nvSpPr>
        <p:spPr>
          <a:xfrm>
            <a:off x="3611879" y="2331720"/>
            <a:ext cx="2194560" cy="365760"/>
          </a:xfrm>
          <a:prstGeom prst="rect">
            <a:avLst/>
          </a:prstGeom>
          <a:noFill/>
        </p:spPr>
        <p:txBody>
          <a:bodyPr wrap="square" lIns="0" rIns="0" tIns="0" bIns="0" anchor="t">
            <a:spAutoFit/>
          </a:bodyPr>
          <a:lstStyle/>
          <a:p>
            <a:pPr algn="l"/>
            <a:r>
              <a:rPr sz="1400" b="1">
                <a:solidFill>
                  <a:srgbClr val="1F232B"/>
                </a:solidFill>
                <a:latin typeface="Malgun Gothic"/>
                <a:ea typeface="Malgun Gothic"/>
                <a:cs typeface="Malgun Gothic"/>
              </a:rPr>
              <a:t>교외 사이트</a:t>
            </a:r>
          </a:p>
        </p:txBody>
      </p:sp>
      <p:sp>
        <p:nvSpPr>
          <p:cNvPr id="10" name="TextBox 9"/>
          <p:cNvSpPr txBox="1"/>
          <p:nvPr/>
        </p:nvSpPr>
        <p:spPr>
          <a:xfrm>
            <a:off x="3611879" y="2697480"/>
            <a:ext cx="2240280" cy="640080"/>
          </a:xfrm>
          <a:prstGeom prst="rect">
            <a:avLst/>
          </a:prstGeom>
          <a:noFill/>
        </p:spPr>
        <p:txBody>
          <a:bodyPr wrap="square" lIns="0" rIns="0" tIns="0" bIns="0" anchor="t">
            <a:spAutoFit/>
          </a:bodyPr>
          <a:lstStyle/>
          <a:p>
            <a:pPr algn="l"/>
            <a:r>
              <a:rPr sz="1050" b="0">
                <a:solidFill>
                  <a:srgbClr val="666E7A"/>
                </a:solidFill>
                <a:latin typeface="Malgun Gothic"/>
                <a:ea typeface="Malgun Gothic"/>
                <a:cs typeface="Malgun Gothic"/>
              </a:rPr>
              <a:t>큐넷 · 데이터자격검정 · K-Startup · 한국장학재단</a:t>
            </a:r>
          </a:p>
        </p:txBody>
      </p:sp>
      <p:sp>
        <p:nvSpPr>
          <p:cNvPr id="11" name="Rounded Rectangle 10"/>
          <p:cNvSpPr/>
          <p:nvPr/>
        </p:nvSpPr>
        <p:spPr>
          <a:xfrm>
            <a:off x="594360" y="3611880"/>
            <a:ext cx="2606040" cy="1920240"/>
          </a:xfrm>
          <a:prstGeom prst="roundRect">
            <a:avLst>
              <a:gd name="adj" fmla="val 7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3794760"/>
            <a:ext cx="2194560" cy="640080"/>
          </a:xfrm>
          <a:prstGeom prst="rect">
            <a:avLst/>
          </a:prstGeom>
          <a:noFill/>
        </p:spPr>
        <p:txBody>
          <a:bodyPr wrap="square" lIns="0" rIns="0" tIns="0" bIns="0" anchor="t">
            <a:spAutoFit/>
          </a:bodyPr>
          <a:lstStyle/>
          <a:p>
            <a:pPr algn="l"/>
            <a:r>
              <a:rPr sz="3000" b="1">
                <a:solidFill>
                  <a:srgbClr val="0058B2"/>
                </a:solidFill>
                <a:latin typeface="Malgun Gothic"/>
                <a:ea typeface="Malgun Gothic"/>
                <a:cs typeface="Malgun Gothic"/>
              </a:rPr>
              <a:t>55%</a:t>
            </a:r>
          </a:p>
        </p:txBody>
      </p:sp>
      <p:sp>
        <p:nvSpPr>
          <p:cNvPr id="13" name="TextBox 12"/>
          <p:cNvSpPr txBox="1"/>
          <p:nvPr/>
        </p:nvSpPr>
        <p:spPr>
          <a:xfrm>
            <a:off x="822960" y="4480560"/>
            <a:ext cx="2194560" cy="365760"/>
          </a:xfrm>
          <a:prstGeom prst="rect">
            <a:avLst/>
          </a:prstGeom>
          <a:noFill/>
        </p:spPr>
        <p:txBody>
          <a:bodyPr wrap="square" lIns="0" rIns="0" tIns="0" bIns="0" anchor="t">
            <a:spAutoFit/>
          </a:bodyPr>
          <a:lstStyle/>
          <a:p>
            <a:pPr algn="l"/>
            <a:r>
              <a:rPr sz="1400" b="1">
                <a:solidFill>
                  <a:srgbClr val="1F232B"/>
                </a:solidFill>
                <a:latin typeface="Malgun Gothic"/>
                <a:ea typeface="Malgun Gothic"/>
                <a:cs typeface="Malgun Gothic"/>
              </a:rPr>
              <a:t>첨부파일 속 정보</a:t>
            </a:r>
          </a:p>
        </p:txBody>
      </p:sp>
      <p:sp>
        <p:nvSpPr>
          <p:cNvPr id="14" name="TextBox 13"/>
          <p:cNvSpPr txBox="1"/>
          <p:nvPr/>
        </p:nvSpPr>
        <p:spPr>
          <a:xfrm>
            <a:off x="822960" y="4846320"/>
            <a:ext cx="2240280" cy="640080"/>
          </a:xfrm>
          <a:prstGeom prst="rect">
            <a:avLst/>
          </a:prstGeom>
          <a:noFill/>
        </p:spPr>
        <p:txBody>
          <a:bodyPr wrap="square" lIns="0" rIns="0" tIns="0" bIns="0" anchor="t">
            <a:spAutoFit/>
          </a:bodyPr>
          <a:lstStyle/>
          <a:p>
            <a:pPr algn="l"/>
            <a:r>
              <a:rPr sz="1050" b="0">
                <a:solidFill>
                  <a:srgbClr val="666E7A"/>
                </a:solidFill>
                <a:latin typeface="Malgun Gothic"/>
                <a:ea typeface="Malgun Gothic"/>
                <a:cs typeface="Malgun Gothic"/>
              </a:rPr>
              <a:t>수집한 공지 159건 중 87건은 신청 기간·대상이 HWP·PDF 안에</a:t>
            </a:r>
          </a:p>
        </p:txBody>
      </p:sp>
      <p:sp>
        <p:nvSpPr>
          <p:cNvPr id="15" name="Rounded Rectangle 14"/>
          <p:cNvSpPr/>
          <p:nvPr/>
        </p:nvSpPr>
        <p:spPr>
          <a:xfrm>
            <a:off x="3383279" y="3611880"/>
            <a:ext cx="2606040" cy="1920240"/>
          </a:xfrm>
          <a:prstGeom prst="roundRect">
            <a:avLst>
              <a:gd name="adj" fmla="val 7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11879" y="3794760"/>
            <a:ext cx="2194560" cy="640080"/>
          </a:xfrm>
          <a:prstGeom prst="rect">
            <a:avLst/>
          </a:prstGeom>
          <a:noFill/>
        </p:spPr>
        <p:txBody>
          <a:bodyPr wrap="square" lIns="0" rIns="0" tIns="0" bIns="0" anchor="t">
            <a:spAutoFit/>
          </a:bodyPr>
          <a:lstStyle/>
          <a:p>
            <a:pPr algn="l"/>
            <a:r>
              <a:rPr sz="3000" b="1">
                <a:solidFill>
                  <a:srgbClr val="0058B2"/>
                </a:solidFill>
                <a:latin typeface="Malgun Gothic"/>
                <a:ea typeface="Malgun Gothic"/>
                <a:cs typeface="Malgun Gothic"/>
              </a:rPr>
              <a:t>18건</a:t>
            </a:r>
          </a:p>
        </p:txBody>
      </p:sp>
      <p:sp>
        <p:nvSpPr>
          <p:cNvPr id="17" name="TextBox 16"/>
          <p:cNvSpPr txBox="1"/>
          <p:nvPr/>
        </p:nvSpPr>
        <p:spPr>
          <a:xfrm>
            <a:off x="3611879" y="4480560"/>
            <a:ext cx="2194560" cy="365760"/>
          </a:xfrm>
          <a:prstGeom prst="rect">
            <a:avLst/>
          </a:prstGeom>
          <a:noFill/>
        </p:spPr>
        <p:txBody>
          <a:bodyPr wrap="square" lIns="0" rIns="0" tIns="0" bIns="0" anchor="t">
            <a:spAutoFit/>
          </a:bodyPr>
          <a:lstStyle/>
          <a:p>
            <a:pPr algn="l"/>
            <a:r>
              <a:rPr sz="1400" b="1">
                <a:solidFill>
                  <a:srgbClr val="1F232B"/>
                </a:solidFill>
                <a:latin typeface="Malgun Gothic"/>
                <a:ea typeface="Malgun Gothic"/>
                <a:cs typeface="Malgun Gothic"/>
              </a:rPr>
              <a:t>중복 게시</a:t>
            </a:r>
          </a:p>
        </p:txBody>
      </p:sp>
      <p:sp>
        <p:nvSpPr>
          <p:cNvPr id="18" name="TextBox 17"/>
          <p:cNvSpPr txBox="1"/>
          <p:nvPr/>
        </p:nvSpPr>
        <p:spPr>
          <a:xfrm>
            <a:off x="3611879" y="4846320"/>
            <a:ext cx="2240280" cy="640080"/>
          </a:xfrm>
          <a:prstGeom prst="rect">
            <a:avLst/>
          </a:prstGeom>
          <a:noFill/>
        </p:spPr>
        <p:txBody>
          <a:bodyPr wrap="square" lIns="0" rIns="0" tIns="0" bIns="0" anchor="t">
            <a:spAutoFit/>
          </a:bodyPr>
          <a:lstStyle/>
          <a:p>
            <a:pPr algn="l"/>
            <a:r>
              <a:rPr sz="1050" b="0">
                <a:solidFill>
                  <a:srgbClr val="666E7A"/>
                </a:solidFill>
                <a:latin typeface="Malgun Gothic"/>
                <a:ea typeface="Malgun Gothic"/>
                <a:cs typeface="Malgun Gothic"/>
              </a:rPr>
              <a:t>같은 공지가 여러 게시판에 따로 올라옴</a:t>
            </a:r>
          </a:p>
        </p:txBody>
      </p:sp>
      <p:sp>
        <p:nvSpPr>
          <p:cNvPr id="19" name="Rounded Rectangle 18"/>
          <p:cNvSpPr/>
          <p:nvPr/>
        </p:nvSpPr>
        <p:spPr>
          <a:xfrm>
            <a:off x="6355080" y="1463040"/>
            <a:ext cx="5257800" cy="932688"/>
          </a:xfrm>
          <a:prstGeom prst="roundRect">
            <a:avLst>
              <a:gd name="adj" fmla="val 10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583680" y="1700784"/>
            <a:ext cx="457200" cy="457200"/>
          </a:xfrm>
          <a:prstGeom prst="ellipse">
            <a:avLst/>
          </a:prstGeom>
          <a:solidFill>
            <a:srgbClr val="005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0" y="1700784"/>
            <a:ext cx="457200" cy="457200"/>
          </a:xfrm>
          <a:prstGeom prst="rect">
            <a:avLst/>
          </a:prstGeom>
          <a:noFill/>
        </p:spPr>
        <p:txBody>
          <a:bodyPr wrap="square" lIns="0" rIns="0" tIns="0" bIns="0" anchor="ctr">
            <a:spAutoFit/>
          </a:bodyPr>
          <a:lstStyle/>
          <a:p>
            <a:pPr algn="ctr"/>
            <a:r>
              <a:rPr sz="1400" b="1">
                <a:solidFill>
                  <a:srgbClr val="FFFFFF"/>
                </a:solidFill>
                <a:latin typeface="Malgun Gothic"/>
                <a:ea typeface="Malgun Gothic"/>
                <a:cs typeface="Malgun Gothic"/>
              </a:rPr>
              <a:t>1</a:t>
            </a:r>
          </a:p>
        </p:txBody>
      </p:sp>
      <p:sp>
        <p:nvSpPr>
          <p:cNvPr id="22" name="TextBox 21"/>
          <p:cNvSpPr txBox="1"/>
          <p:nvPr/>
        </p:nvSpPr>
        <p:spPr>
          <a:xfrm>
            <a:off x="7223760" y="1591056"/>
            <a:ext cx="4297680" cy="365760"/>
          </a:xfrm>
          <a:prstGeom prst="rect">
            <a:avLst/>
          </a:prstGeom>
          <a:noFill/>
        </p:spPr>
        <p:txBody>
          <a:bodyPr wrap="square" lIns="0" rIns="0" tIns="0" bIns="0" anchor="t">
            <a:spAutoFit/>
          </a:bodyPr>
          <a:lstStyle/>
          <a:p>
            <a:pPr algn="l"/>
            <a:r>
              <a:rPr sz="1550" b="1">
                <a:solidFill>
                  <a:srgbClr val="1F232B"/>
                </a:solidFill>
                <a:latin typeface="Malgun Gothic"/>
                <a:ea typeface="Malgun Gothic"/>
                <a:cs typeface="Malgun Gothic"/>
              </a:rPr>
              <a:t>어디를 봐야 할지 모른다</a:t>
            </a:r>
          </a:p>
        </p:txBody>
      </p:sp>
      <p:sp>
        <p:nvSpPr>
          <p:cNvPr id="23" name="TextBox 22"/>
          <p:cNvSpPr txBox="1"/>
          <p:nvPr/>
        </p:nvSpPr>
        <p:spPr>
          <a:xfrm>
            <a:off x="7223760" y="1938528"/>
            <a:ext cx="4297680" cy="411480"/>
          </a:xfrm>
          <a:prstGeom prst="rect">
            <a:avLst/>
          </a:prstGeom>
          <a:noFill/>
        </p:spPr>
        <p:txBody>
          <a:bodyPr wrap="square" lIns="0" rIns="0" tIns="0" bIns="0" anchor="t">
            <a:spAutoFit/>
          </a:bodyPr>
          <a:lstStyle/>
          <a:p>
            <a:pPr algn="l"/>
            <a:r>
              <a:rPr sz="1100" b="0">
                <a:solidFill>
                  <a:srgbClr val="666E7A"/>
                </a:solidFill>
                <a:latin typeface="Malgun Gothic"/>
                <a:ea typeface="Malgun Gothic"/>
                <a:cs typeface="Malgun Gothic"/>
              </a:rPr>
              <a:t>학과·부속기관 게시판을 하나씩 들어가 봐야 하고, 장학·시험은 또 다른 사이트에 있다</a:t>
            </a:r>
          </a:p>
        </p:txBody>
      </p:sp>
      <p:sp>
        <p:nvSpPr>
          <p:cNvPr id="24" name="Rounded Rectangle 23"/>
          <p:cNvSpPr/>
          <p:nvPr/>
        </p:nvSpPr>
        <p:spPr>
          <a:xfrm>
            <a:off x="6355080" y="2542032"/>
            <a:ext cx="5257800" cy="932688"/>
          </a:xfrm>
          <a:prstGeom prst="roundRect">
            <a:avLst>
              <a:gd name="adj" fmla="val 10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583680" y="2779776"/>
            <a:ext cx="457200" cy="457200"/>
          </a:xfrm>
          <a:prstGeom prst="ellipse">
            <a:avLst/>
          </a:prstGeom>
          <a:solidFill>
            <a:srgbClr val="005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0" y="2779776"/>
            <a:ext cx="457200" cy="457200"/>
          </a:xfrm>
          <a:prstGeom prst="rect">
            <a:avLst/>
          </a:prstGeom>
          <a:noFill/>
        </p:spPr>
        <p:txBody>
          <a:bodyPr wrap="square" lIns="0" rIns="0" tIns="0" bIns="0" anchor="ctr">
            <a:spAutoFit/>
          </a:bodyPr>
          <a:lstStyle/>
          <a:p>
            <a:pPr algn="ctr"/>
            <a:r>
              <a:rPr sz="1400" b="1">
                <a:solidFill>
                  <a:srgbClr val="FFFFFF"/>
                </a:solidFill>
                <a:latin typeface="Malgun Gothic"/>
                <a:ea typeface="Malgun Gothic"/>
                <a:cs typeface="Malgun Gothic"/>
              </a:rPr>
              <a:t>2</a:t>
            </a:r>
          </a:p>
        </p:txBody>
      </p:sp>
      <p:sp>
        <p:nvSpPr>
          <p:cNvPr id="27" name="TextBox 26"/>
          <p:cNvSpPr txBox="1"/>
          <p:nvPr/>
        </p:nvSpPr>
        <p:spPr>
          <a:xfrm>
            <a:off x="7223760" y="2670048"/>
            <a:ext cx="4297680" cy="365760"/>
          </a:xfrm>
          <a:prstGeom prst="rect">
            <a:avLst/>
          </a:prstGeom>
          <a:noFill/>
        </p:spPr>
        <p:txBody>
          <a:bodyPr wrap="square" lIns="0" rIns="0" tIns="0" bIns="0" anchor="t">
            <a:spAutoFit/>
          </a:bodyPr>
          <a:lstStyle/>
          <a:p>
            <a:pPr algn="l"/>
            <a:r>
              <a:rPr sz="1550" b="1">
                <a:solidFill>
                  <a:srgbClr val="1F232B"/>
                </a:solidFill>
                <a:latin typeface="Malgun Gothic"/>
                <a:ea typeface="Malgun Gothic"/>
                <a:cs typeface="Malgun Gothic"/>
              </a:rPr>
              <a:t>나에게 해당되는지, 언제까지인지 모른다</a:t>
            </a:r>
          </a:p>
        </p:txBody>
      </p:sp>
      <p:sp>
        <p:nvSpPr>
          <p:cNvPr id="28" name="TextBox 27"/>
          <p:cNvSpPr txBox="1"/>
          <p:nvPr/>
        </p:nvSpPr>
        <p:spPr>
          <a:xfrm>
            <a:off x="7223760" y="3017520"/>
            <a:ext cx="4297680" cy="411480"/>
          </a:xfrm>
          <a:prstGeom prst="rect">
            <a:avLst/>
          </a:prstGeom>
          <a:noFill/>
        </p:spPr>
        <p:txBody>
          <a:bodyPr wrap="square" lIns="0" rIns="0" tIns="0" bIns="0" anchor="t">
            <a:spAutoFit/>
          </a:bodyPr>
          <a:lstStyle/>
          <a:p>
            <a:pPr algn="l"/>
            <a:r>
              <a:rPr sz="1100" b="0">
                <a:solidFill>
                  <a:srgbClr val="666E7A"/>
                </a:solidFill>
                <a:latin typeface="Malgun Gothic"/>
                <a:ea typeface="Malgun Gothic"/>
                <a:cs typeface="Malgun Gothic"/>
              </a:rPr>
              <a:t>대상·마감일은 긴 본문과 첨부 한글 파일 속에 있다</a:t>
            </a:r>
          </a:p>
        </p:txBody>
      </p:sp>
      <p:sp>
        <p:nvSpPr>
          <p:cNvPr id="29" name="Rounded Rectangle 28"/>
          <p:cNvSpPr/>
          <p:nvPr/>
        </p:nvSpPr>
        <p:spPr>
          <a:xfrm>
            <a:off x="6355080" y="3621024"/>
            <a:ext cx="5257800" cy="932688"/>
          </a:xfrm>
          <a:prstGeom prst="roundRect">
            <a:avLst>
              <a:gd name="adj" fmla="val 10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583680" y="3858768"/>
            <a:ext cx="457200" cy="457200"/>
          </a:xfrm>
          <a:prstGeom prst="ellipse">
            <a:avLst/>
          </a:prstGeom>
          <a:solidFill>
            <a:srgbClr val="005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0" y="3858768"/>
            <a:ext cx="457200" cy="457200"/>
          </a:xfrm>
          <a:prstGeom prst="rect">
            <a:avLst/>
          </a:prstGeom>
          <a:noFill/>
        </p:spPr>
        <p:txBody>
          <a:bodyPr wrap="square" lIns="0" rIns="0" tIns="0" bIns="0" anchor="ctr">
            <a:spAutoFit/>
          </a:bodyPr>
          <a:lstStyle/>
          <a:p>
            <a:pPr algn="ctr"/>
            <a:r>
              <a:rPr sz="1400" b="1">
                <a:solidFill>
                  <a:srgbClr val="FFFFFF"/>
                </a:solidFill>
                <a:latin typeface="Malgun Gothic"/>
                <a:ea typeface="Malgun Gothic"/>
                <a:cs typeface="Malgun Gothic"/>
              </a:rPr>
              <a:t>3</a:t>
            </a:r>
          </a:p>
        </p:txBody>
      </p:sp>
      <p:sp>
        <p:nvSpPr>
          <p:cNvPr id="32" name="TextBox 31"/>
          <p:cNvSpPr txBox="1"/>
          <p:nvPr/>
        </p:nvSpPr>
        <p:spPr>
          <a:xfrm>
            <a:off x="7223760" y="3749039"/>
            <a:ext cx="4297680" cy="365760"/>
          </a:xfrm>
          <a:prstGeom prst="rect">
            <a:avLst/>
          </a:prstGeom>
          <a:noFill/>
        </p:spPr>
        <p:txBody>
          <a:bodyPr wrap="square" lIns="0" rIns="0" tIns="0" bIns="0" anchor="t">
            <a:spAutoFit/>
          </a:bodyPr>
          <a:lstStyle/>
          <a:p>
            <a:pPr algn="l"/>
            <a:r>
              <a:rPr sz="1550" b="1">
                <a:solidFill>
                  <a:srgbClr val="1F232B"/>
                </a:solidFill>
                <a:latin typeface="Malgun Gothic"/>
                <a:ea typeface="Malgun Gothic"/>
                <a:cs typeface="Malgun Gothic"/>
              </a:rPr>
              <a:t>'접수 기간'이라 열렸는지 헷갈린다</a:t>
            </a:r>
          </a:p>
        </p:txBody>
      </p:sp>
      <p:sp>
        <p:nvSpPr>
          <p:cNvPr id="33" name="TextBox 32"/>
          <p:cNvSpPr txBox="1"/>
          <p:nvPr/>
        </p:nvSpPr>
        <p:spPr>
          <a:xfrm>
            <a:off x="7223760" y="4096512"/>
            <a:ext cx="4297680" cy="411480"/>
          </a:xfrm>
          <a:prstGeom prst="rect">
            <a:avLst/>
          </a:prstGeom>
          <a:noFill/>
        </p:spPr>
        <p:txBody>
          <a:bodyPr wrap="square" lIns="0" rIns="0" tIns="0" bIns="0" anchor="t">
            <a:spAutoFit/>
          </a:bodyPr>
          <a:lstStyle/>
          <a:p>
            <a:pPr algn="l"/>
            <a:r>
              <a:rPr sz="1100" b="0">
                <a:solidFill>
                  <a:srgbClr val="666E7A"/>
                </a:solidFill>
                <a:latin typeface="Malgun Gothic"/>
                <a:ea typeface="Malgun Gothic"/>
                <a:cs typeface="Malgun Gothic"/>
              </a:rPr>
              <a:t>시험·장학은 기간 접수라, 아직 안 열렸는지 이미 끝났는지 한눈에 안 보인다</a:t>
            </a:r>
          </a:p>
        </p:txBody>
      </p:sp>
      <p:sp>
        <p:nvSpPr>
          <p:cNvPr id="34" name="Rounded Rectangle 33"/>
          <p:cNvSpPr/>
          <p:nvPr/>
        </p:nvSpPr>
        <p:spPr>
          <a:xfrm>
            <a:off x="6355080" y="4700016"/>
            <a:ext cx="5257800" cy="932688"/>
          </a:xfrm>
          <a:prstGeom prst="roundRect">
            <a:avLst>
              <a:gd name="adj" fmla="val 10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583680" y="4937760"/>
            <a:ext cx="457200" cy="457200"/>
          </a:xfrm>
          <a:prstGeom prst="ellipse">
            <a:avLst/>
          </a:prstGeom>
          <a:solidFill>
            <a:srgbClr val="D14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0" y="4937760"/>
            <a:ext cx="457200" cy="457200"/>
          </a:xfrm>
          <a:prstGeom prst="rect">
            <a:avLst/>
          </a:prstGeom>
          <a:noFill/>
        </p:spPr>
        <p:txBody>
          <a:bodyPr wrap="square" lIns="0" rIns="0" tIns="0" bIns="0" anchor="ctr">
            <a:spAutoFit/>
          </a:bodyPr>
          <a:lstStyle/>
          <a:p>
            <a:pPr algn="ctr"/>
            <a:r>
              <a:rPr sz="1400" b="1">
                <a:solidFill>
                  <a:srgbClr val="FFFFFF"/>
                </a:solidFill>
                <a:latin typeface="Malgun Gothic"/>
                <a:ea typeface="Malgun Gothic"/>
                <a:cs typeface="Malgun Gothic"/>
              </a:rPr>
              <a:t>4</a:t>
            </a:r>
          </a:p>
        </p:txBody>
      </p:sp>
      <p:sp>
        <p:nvSpPr>
          <p:cNvPr id="37" name="TextBox 36"/>
          <p:cNvSpPr txBox="1"/>
          <p:nvPr/>
        </p:nvSpPr>
        <p:spPr>
          <a:xfrm>
            <a:off x="7223760" y="4828032"/>
            <a:ext cx="4297680" cy="365760"/>
          </a:xfrm>
          <a:prstGeom prst="rect">
            <a:avLst/>
          </a:prstGeom>
          <a:noFill/>
        </p:spPr>
        <p:txBody>
          <a:bodyPr wrap="square" lIns="0" rIns="0" tIns="0" bIns="0" anchor="t">
            <a:spAutoFit/>
          </a:bodyPr>
          <a:lstStyle/>
          <a:p>
            <a:pPr algn="l"/>
            <a:r>
              <a:rPr sz="1550" b="1">
                <a:solidFill>
                  <a:srgbClr val="1F232B"/>
                </a:solidFill>
                <a:latin typeface="Malgun Gothic"/>
                <a:ea typeface="Malgun Gothic"/>
                <a:cs typeface="Malgun Gothic"/>
              </a:rPr>
              <a:t>그래서 마감이 지나서야 안다</a:t>
            </a:r>
          </a:p>
        </p:txBody>
      </p:sp>
      <p:sp>
        <p:nvSpPr>
          <p:cNvPr id="38" name="TextBox 37"/>
          <p:cNvSpPr txBox="1"/>
          <p:nvPr/>
        </p:nvSpPr>
        <p:spPr>
          <a:xfrm>
            <a:off x="7223760" y="5175504"/>
            <a:ext cx="4297680" cy="411480"/>
          </a:xfrm>
          <a:prstGeom prst="rect">
            <a:avLst/>
          </a:prstGeom>
          <a:noFill/>
        </p:spPr>
        <p:txBody>
          <a:bodyPr wrap="square" lIns="0" rIns="0" tIns="0" bIns="0" anchor="t">
            <a:spAutoFit/>
          </a:bodyPr>
          <a:lstStyle/>
          <a:p>
            <a:pPr algn="l"/>
            <a:r>
              <a:rPr sz="1100" b="0">
                <a:solidFill>
                  <a:srgbClr val="666E7A"/>
                </a:solidFill>
                <a:latin typeface="Malgun Gothic"/>
                <a:ea typeface="Malgun Gothic"/>
                <a:cs typeface="Malgun Gothic"/>
              </a:rPr>
              <a:t>장학금·공모전·자격증 기회를 놓친다</a:t>
            </a:r>
          </a:p>
        </p:txBody>
      </p:sp>
      <p:sp>
        <p:nvSpPr>
          <p:cNvPr id="39" name="TextBox 38"/>
          <p:cNvSpPr txBox="1"/>
          <p:nvPr/>
        </p:nvSpPr>
        <p:spPr>
          <a:xfrm>
            <a:off x="11247120" y="6400800"/>
            <a:ext cx="457200" cy="274320"/>
          </a:xfrm>
          <a:prstGeom prst="rect">
            <a:avLst/>
          </a:prstGeom>
          <a:noFill/>
        </p:spPr>
        <p:txBody>
          <a:bodyPr wrap="square" lIns="0" rIns="0" tIns="0" bIns="0" anchor="t">
            <a:spAutoFit/>
          </a:bodyPr>
          <a:lstStyle/>
          <a:p>
            <a:pPr algn="r"/>
            <a:r>
              <a:rPr sz="1000" b="0">
                <a:solidFill>
                  <a:srgbClr val="666E7A"/>
                </a:solidFill>
                <a:latin typeface="Malgun Gothic"/>
                <a:ea typeface="Malgun Gothic"/>
                <a:cs typeface="Malgun Gothic"/>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594360" y="457200"/>
            <a:ext cx="10972800" cy="731520"/>
          </a:xfrm>
          <a:prstGeom prst="rect">
            <a:avLst/>
          </a:prstGeom>
          <a:noFill/>
        </p:spPr>
        <p:txBody>
          <a:bodyPr wrap="square" lIns="0" rIns="0" tIns="0" bIns="0" anchor="t">
            <a:spAutoFit/>
          </a:bodyPr>
          <a:lstStyle/>
          <a:p>
            <a:pPr algn="l"/>
            <a:r>
              <a:rPr sz="3000" b="1">
                <a:solidFill>
                  <a:srgbClr val="1F232B"/>
                </a:solidFill>
                <a:latin typeface="Malgun Gothic"/>
                <a:ea typeface="Malgun Gothic"/>
                <a:cs typeface="Malgun Gothic"/>
              </a:rPr>
              <a:t>한 번 설정하면, 찾아가지 않아도 알려 줍니다</a:t>
            </a:r>
          </a:p>
        </p:txBody>
      </p:sp>
      <p:sp>
        <p:nvSpPr>
          <p:cNvPr id="3" name="TextBox 2"/>
          <p:cNvSpPr txBox="1"/>
          <p:nvPr/>
        </p:nvSpPr>
        <p:spPr>
          <a:xfrm>
            <a:off x="594360" y="1097280"/>
            <a:ext cx="10972800" cy="365760"/>
          </a:xfrm>
          <a:prstGeom prst="rect">
            <a:avLst/>
          </a:prstGeom>
          <a:noFill/>
        </p:spPr>
        <p:txBody>
          <a:bodyPr wrap="square" lIns="0" rIns="0" tIns="0" bIns="0" anchor="t">
            <a:spAutoFit/>
          </a:bodyPr>
          <a:lstStyle/>
          <a:p>
            <a:pPr algn="l"/>
            <a:r>
              <a:rPr sz="1400" b="1">
                <a:solidFill>
                  <a:srgbClr val="0058B2"/>
                </a:solidFill>
                <a:latin typeface="Malgun Gothic"/>
                <a:ea typeface="Malgun Gothic"/>
                <a:cs typeface="Malgun Gothic"/>
              </a:rPr>
              <a:t>핵심 가치: </a:t>
            </a:r>
            <a:r>
              <a:rPr sz="1400" b="0">
                <a:solidFill>
                  <a:srgbClr val="1F232B"/>
                </a:solidFill>
                <a:latin typeface="Malgun Gothic"/>
                <a:ea typeface="Malgun Gothic"/>
                <a:cs typeface="Malgun Gothic"/>
              </a:rPr>
              <a:t>사이트를 하나하나 들어가는 시간을 없앱니다. 알림으로 받고, 궁금하면 앱에서 자세히 찾아봅니다.</a:t>
            </a:r>
          </a:p>
        </p:txBody>
      </p:sp>
      <p:sp>
        <p:nvSpPr>
          <p:cNvPr id="4" name="Rounded Rectangle 3"/>
          <p:cNvSpPr/>
          <p:nvPr/>
        </p:nvSpPr>
        <p:spPr>
          <a:xfrm>
            <a:off x="1115568" y="1618488"/>
            <a:ext cx="1730794" cy="3575304"/>
          </a:xfrm>
          <a:prstGeom prst="roundRect">
            <a:avLst>
              <a:gd name="adj" fmla="val 8000"/>
            </a:avLst>
          </a:prstGeom>
          <a:solidFill>
            <a:srgbClr val="1111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1-for-me-open.png"/>
          <p:cNvPicPr>
            <a:picLocks noChangeAspect="1"/>
          </p:cNvPicPr>
          <p:nvPr/>
        </p:nvPicPr>
        <p:blipFill>
          <a:blip r:embed="rId2"/>
          <a:stretch>
            <a:fillRect/>
          </a:stretch>
        </p:blipFill>
        <p:spPr>
          <a:xfrm>
            <a:off x="1188720" y="1691640"/>
            <a:ext cx="1584490" cy="3429000"/>
          </a:xfrm>
          <a:prstGeom prst="rect">
            <a:avLst/>
          </a:prstGeom>
        </p:spPr>
      </p:pic>
      <p:sp>
        <p:nvSpPr>
          <p:cNvPr id="6" name="TextBox 5"/>
          <p:cNvSpPr txBox="1"/>
          <p:nvPr/>
        </p:nvSpPr>
        <p:spPr>
          <a:xfrm>
            <a:off x="594360" y="5303520"/>
            <a:ext cx="2681770" cy="365760"/>
          </a:xfrm>
          <a:prstGeom prst="rect">
            <a:avLst/>
          </a:prstGeom>
          <a:noFill/>
        </p:spPr>
        <p:txBody>
          <a:bodyPr wrap="square" lIns="0" rIns="0" tIns="0" bIns="0" anchor="t">
            <a:spAutoFit/>
          </a:bodyPr>
          <a:lstStyle/>
          <a:p>
            <a:pPr algn="ctr"/>
            <a:r>
              <a:rPr sz="1600" b="1">
                <a:solidFill>
                  <a:srgbClr val="1F232B"/>
                </a:solidFill>
                <a:latin typeface="Malgun Gothic"/>
                <a:ea typeface="Malgun Gothic"/>
                <a:cs typeface="Malgun Gothic"/>
              </a:rPr>
              <a:t>나에게 맞는 공지</a:t>
            </a:r>
          </a:p>
        </p:txBody>
      </p:sp>
      <p:sp>
        <p:nvSpPr>
          <p:cNvPr id="7" name="TextBox 6"/>
          <p:cNvSpPr txBox="1"/>
          <p:nvPr/>
        </p:nvSpPr>
        <p:spPr>
          <a:xfrm>
            <a:off x="502920" y="5715000"/>
            <a:ext cx="2864650" cy="731520"/>
          </a:xfrm>
          <a:prstGeom prst="rect">
            <a:avLst/>
          </a:prstGeom>
          <a:noFill/>
        </p:spPr>
        <p:txBody>
          <a:bodyPr wrap="square" lIns="0" rIns="0" tIns="0" bIns="0" anchor="t">
            <a:spAutoFit/>
          </a:bodyPr>
          <a:lstStyle/>
          <a:p>
            <a:pPr algn="ctr"/>
            <a:r>
              <a:rPr sz="1050" b="0">
                <a:solidFill>
                  <a:srgbClr val="666E7A"/>
                </a:solidFill>
                <a:latin typeface="Malgun Gothic"/>
                <a:ea typeface="Malgun Gothic"/>
                <a:cs typeface="Malgun Gothic"/>
              </a:rPr>
              <a:t>학과·관심사로 골라 주고
왜 추천했는지 이유까지</a:t>
            </a:r>
          </a:p>
        </p:txBody>
      </p:sp>
      <p:sp>
        <p:nvSpPr>
          <p:cNvPr id="8" name="Rounded Rectangle 7"/>
          <p:cNvSpPr/>
          <p:nvPr/>
        </p:nvSpPr>
        <p:spPr>
          <a:xfrm>
            <a:off x="3995928" y="1618488"/>
            <a:ext cx="1730794" cy="3575304"/>
          </a:xfrm>
          <a:prstGeom prst="roundRect">
            <a:avLst>
              <a:gd name="adj" fmla="val 8000"/>
            </a:avLst>
          </a:prstGeom>
          <a:solidFill>
            <a:srgbClr val="1111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upcoming.png"/>
          <p:cNvPicPr>
            <a:picLocks noChangeAspect="1"/>
          </p:cNvPicPr>
          <p:nvPr/>
        </p:nvPicPr>
        <p:blipFill>
          <a:blip r:embed="rId3"/>
          <a:stretch>
            <a:fillRect/>
          </a:stretch>
        </p:blipFill>
        <p:spPr>
          <a:xfrm>
            <a:off x="4069080" y="1691640"/>
            <a:ext cx="1584490" cy="3429000"/>
          </a:xfrm>
          <a:prstGeom prst="rect">
            <a:avLst/>
          </a:prstGeom>
        </p:spPr>
      </p:pic>
      <p:sp>
        <p:nvSpPr>
          <p:cNvPr id="10" name="TextBox 9"/>
          <p:cNvSpPr txBox="1"/>
          <p:nvPr/>
        </p:nvSpPr>
        <p:spPr>
          <a:xfrm>
            <a:off x="3474720" y="5303520"/>
            <a:ext cx="2681770" cy="365760"/>
          </a:xfrm>
          <a:prstGeom prst="rect">
            <a:avLst/>
          </a:prstGeom>
          <a:noFill/>
        </p:spPr>
        <p:txBody>
          <a:bodyPr wrap="square" lIns="0" rIns="0" tIns="0" bIns="0" anchor="t">
            <a:spAutoFit/>
          </a:bodyPr>
          <a:lstStyle/>
          <a:p>
            <a:pPr algn="ctr"/>
            <a:r>
              <a:rPr sz="1600" b="1">
                <a:solidFill>
                  <a:srgbClr val="1F232B"/>
                </a:solidFill>
                <a:latin typeface="Malgun Gothic"/>
                <a:ea typeface="Malgun Gothic"/>
                <a:cs typeface="Malgun Gothic"/>
              </a:rPr>
              <a:t>접수 상태가 한눈에</a:t>
            </a:r>
          </a:p>
        </p:txBody>
      </p:sp>
      <p:sp>
        <p:nvSpPr>
          <p:cNvPr id="11" name="TextBox 10"/>
          <p:cNvSpPr txBox="1"/>
          <p:nvPr/>
        </p:nvSpPr>
        <p:spPr>
          <a:xfrm>
            <a:off x="3383279" y="5715000"/>
            <a:ext cx="2864650" cy="731520"/>
          </a:xfrm>
          <a:prstGeom prst="rect">
            <a:avLst/>
          </a:prstGeom>
          <a:noFill/>
        </p:spPr>
        <p:txBody>
          <a:bodyPr wrap="square" lIns="0" rIns="0" tIns="0" bIns="0" anchor="t">
            <a:spAutoFit/>
          </a:bodyPr>
          <a:lstStyle/>
          <a:p>
            <a:pPr algn="ctr"/>
            <a:r>
              <a:rPr sz="1050" b="0">
                <a:solidFill>
                  <a:srgbClr val="666E7A"/>
                </a:solidFill>
                <a:latin typeface="Malgun Gothic"/>
                <a:ea typeface="Malgun Gothic"/>
                <a:cs typeface="Malgun Gothic"/>
              </a:rPr>
              <a:t>'10/12 접수 시작' · '접수중 D-3'
접수중·접수 예정 필터, 4가지 정렬</a:t>
            </a:r>
          </a:p>
        </p:txBody>
      </p:sp>
      <p:sp>
        <p:nvSpPr>
          <p:cNvPr id="12" name="Rounded Rectangle 11"/>
          <p:cNvSpPr/>
          <p:nvPr/>
        </p:nvSpPr>
        <p:spPr>
          <a:xfrm>
            <a:off x="6876288" y="1618488"/>
            <a:ext cx="1730794" cy="3575304"/>
          </a:xfrm>
          <a:prstGeom prst="roundRect">
            <a:avLst>
              <a:gd name="adj" fmla="val 8000"/>
            </a:avLst>
          </a:prstGeom>
          <a:solidFill>
            <a:srgbClr val="1111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3b-detail-scholarship.png"/>
          <p:cNvPicPr>
            <a:picLocks noChangeAspect="1"/>
          </p:cNvPicPr>
          <p:nvPr/>
        </p:nvPicPr>
        <p:blipFill>
          <a:blip r:embed="rId4"/>
          <a:stretch>
            <a:fillRect/>
          </a:stretch>
        </p:blipFill>
        <p:spPr>
          <a:xfrm>
            <a:off x="6949440" y="1691640"/>
            <a:ext cx="1584490" cy="3429000"/>
          </a:xfrm>
          <a:prstGeom prst="rect">
            <a:avLst/>
          </a:prstGeom>
        </p:spPr>
      </p:pic>
      <p:sp>
        <p:nvSpPr>
          <p:cNvPr id="14" name="TextBox 13"/>
          <p:cNvSpPr txBox="1"/>
          <p:nvPr/>
        </p:nvSpPr>
        <p:spPr>
          <a:xfrm>
            <a:off x="6355080" y="5303520"/>
            <a:ext cx="2681770" cy="365760"/>
          </a:xfrm>
          <a:prstGeom prst="rect">
            <a:avLst/>
          </a:prstGeom>
          <a:noFill/>
        </p:spPr>
        <p:txBody>
          <a:bodyPr wrap="square" lIns="0" rIns="0" tIns="0" bIns="0" anchor="t">
            <a:spAutoFit/>
          </a:bodyPr>
          <a:lstStyle/>
          <a:p>
            <a:pPr algn="ctr"/>
            <a:r>
              <a:rPr sz="1600" b="1">
                <a:solidFill>
                  <a:srgbClr val="1F232B"/>
                </a:solidFill>
                <a:latin typeface="Malgun Gothic"/>
                <a:ea typeface="Malgun Gothic"/>
                <a:cs typeface="Malgun Gothic"/>
              </a:rPr>
              <a:t>긴 공지를 한 장으로</a:t>
            </a:r>
          </a:p>
        </p:txBody>
      </p:sp>
      <p:sp>
        <p:nvSpPr>
          <p:cNvPr id="15" name="TextBox 14"/>
          <p:cNvSpPr txBox="1"/>
          <p:nvPr/>
        </p:nvSpPr>
        <p:spPr>
          <a:xfrm>
            <a:off x="6263640" y="5715000"/>
            <a:ext cx="2864650" cy="731520"/>
          </a:xfrm>
          <a:prstGeom prst="rect">
            <a:avLst/>
          </a:prstGeom>
          <a:noFill/>
        </p:spPr>
        <p:txBody>
          <a:bodyPr wrap="square" lIns="0" rIns="0" tIns="0" bIns="0" anchor="t">
            <a:spAutoFit/>
          </a:bodyPr>
          <a:lstStyle/>
          <a:p>
            <a:pPr algn="ctr"/>
            <a:r>
              <a:rPr sz="1050" b="0">
                <a:solidFill>
                  <a:srgbClr val="666E7A"/>
                </a:solidFill>
                <a:latin typeface="Malgun Gothic"/>
                <a:ea typeface="Malgun Gothic"/>
                <a:cs typeface="Malgun Gothic"/>
              </a:rPr>
              <a:t>대상·기간·신청방법·지원내용·
제출서류를 표로 (첨부파일까지 읽음)</a:t>
            </a:r>
          </a:p>
        </p:txBody>
      </p:sp>
      <p:sp>
        <p:nvSpPr>
          <p:cNvPr id="16" name="Rounded Rectangle 15"/>
          <p:cNvSpPr/>
          <p:nvPr/>
        </p:nvSpPr>
        <p:spPr>
          <a:xfrm>
            <a:off x="9756648" y="1618488"/>
            <a:ext cx="1730794" cy="3575304"/>
          </a:xfrm>
          <a:prstGeom prst="roundRect">
            <a:avLst>
              <a:gd name="adj" fmla="val 8000"/>
            </a:avLst>
          </a:prstGeom>
          <a:solidFill>
            <a:srgbClr val="1111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4-calendar-open.png"/>
          <p:cNvPicPr>
            <a:picLocks noChangeAspect="1"/>
          </p:cNvPicPr>
          <p:nvPr/>
        </p:nvPicPr>
        <p:blipFill>
          <a:blip r:embed="rId5"/>
          <a:stretch>
            <a:fillRect/>
          </a:stretch>
        </p:blipFill>
        <p:spPr>
          <a:xfrm>
            <a:off x="9829800" y="1691640"/>
            <a:ext cx="1584490" cy="3429000"/>
          </a:xfrm>
          <a:prstGeom prst="rect">
            <a:avLst/>
          </a:prstGeom>
        </p:spPr>
      </p:pic>
      <p:sp>
        <p:nvSpPr>
          <p:cNvPr id="18" name="TextBox 17"/>
          <p:cNvSpPr txBox="1"/>
          <p:nvPr/>
        </p:nvSpPr>
        <p:spPr>
          <a:xfrm>
            <a:off x="9235440" y="5303520"/>
            <a:ext cx="2681770" cy="365760"/>
          </a:xfrm>
          <a:prstGeom prst="rect">
            <a:avLst/>
          </a:prstGeom>
          <a:noFill/>
        </p:spPr>
        <p:txBody>
          <a:bodyPr wrap="square" lIns="0" rIns="0" tIns="0" bIns="0" anchor="t">
            <a:spAutoFit/>
          </a:bodyPr>
          <a:lstStyle/>
          <a:p>
            <a:pPr algn="ctr"/>
            <a:r>
              <a:rPr sz="1600" b="1">
                <a:solidFill>
                  <a:srgbClr val="1F232B"/>
                </a:solidFill>
                <a:latin typeface="Malgun Gothic"/>
                <a:ea typeface="Malgun Gothic"/>
                <a:cs typeface="Malgun Gothic"/>
              </a:rPr>
              <a:t>놓치지 않게 알림</a:t>
            </a:r>
          </a:p>
        </p:txBody>
      </p:sp>
      <p:sp>
        <p:nvSpPr>
          <p:cNvPr id="19" name="TextBox 18"/>
          <p:cNvSpPr txBox="1"/>
          <p:nvPr/>
        </p:nvSpPr>
        <p:spPr>
          <a:xfrm>
            <a:off x="9144000" y="5715000"/>
            <a:ext cx="2864650" cy="731520"/>
          </a:xfrm>
          <a:prstGeom prst="rect">
            <a:avLst/>
          </a:prstGeom>
          <a:noFill/>
        </p:spPr>
        <p:txBody>
          <a:bodyPr wrap="square" lIns="0" rIns="0" tIns="0" bIns="0" anchor="t">
            <a:spAutoFit/>
          </a:bodyPr>
          <a:lstStyle/>
          <a:p>
            <a:pPr algn="ctr"/>
            <a:r>
              <a:rPr sz="1050" b="0">
                <a:solidFill>
                  <a:srgbClr val="666E7A"/>
                </a:solidFill>
                <a:latin typeface="Malgun Gothic"/>
                <a:ea typeface="Malgun Gothic"/>
                <a:cs typeface="Malgun Gothic"/>
              </a:rPr>
              <a:t>마감 7·3·1일 전 · 접수 시작 알림
캘린더에 '지금 접수중' 목록</a:t>
            </a:r>
          </a:p>
        </p:txBody>
      </p:sp>
      <p:sp>
        <p:nvSpPr>
          <p:cNvPr id="20" name="TextBox 19"/>
          <p:cNvSpPr txBox="1"/>
          <p:nvPr/>
        </p:nvSpPr>
        <p:spPr>
          <a:xfrm>
            <a:off x="11247120" y="6400800"/>
            <a:ext cx="457200" cy="274320"/>
          </a:xfrm>
          <a:prstGeom prst="rect">
            <a:avLst/>
          </a:prstGeom>
          <a:noFill/>
        </p:spPr>
        <p:txBody>
          <a:bodyPr wrap="square" lIns="0" rIns="0" tIns="0" bIns="0" anchor="t">
            <a:spAutoFit/>
          </a:bodyPr>
          <a:lstStyle/>
          <a:p>
            <a:pPr algn="r"/>
            <a:r>
              <a:rPr sz="1000" b="0">
                <a:solidFill>
                  <a:srgbClr val="666E7A"/>
                </a:solidFill>
                <a:latin typeface="Malgun Gothic"/>
                <a:ea typeface="Malgun Gothic"/>
                <a:cs typeface="Malgun Gothic"/>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594360" y="457200"/>
            <a:ext cx="10972800" cy="731520"/>
          </a:xfrm>
          <a:prstGeom prst="rect">
            <a:avLst/>
          </a:prstGeom>
          <a:noFill/>
        </p:spPr>
        <p:txBody>
          <a:bodyPr wrap="square" lIns="0" rIns="0" tIns="0" bIns="0" anchor="t">
            <a:spAutoFit/>
          </a:bodyPr>
          <a:lstStyle/>
          <a:p>
            <a:pPr algn="l"/>
            <a:r>
              <a:rPr sz="3000" b="1">
                <a:solidFill>
                  <a:srgbClr val="1F232B"/>
                </a:solidFill>
                <a:latin typeface="Malgun Gothic"/>
                <a:ea typeface="Malgun Gothic"/>
                <a:cs typeface="Malgun Gothic"/>
              </a:rPr>
              <a:t>모으고 → 읽고 → 정리해서 → 전달합니다</a:t>
            </a:r>
          </a:p>
        </p:txBody>
      </p:sp>
      <p:sp>
        <p:nvSpPr>
          <p:cNvPr id="3" name="Rounded Rectangle 2"/>
          <p:cNvSpPr/>
          <p:nvPr/>
        </p:nvSpPr>
        <p:spPr>
          <a:xfrm>
            <a:off x="594360" y="1417320"/>
            <a:ext cx="2560320" cy="3108960"/>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22960" y="1645920"/>
            <a:ext cx="502920" cy="502920"/>
          </a:xfrm>
          <a:prstGeom prst="ellipse">
            <a:avLst/>
          </a:prstGeom>
          <a:solidFill>
            <a:srgbClr val="005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645920"/>
            <a:ext cx="502920" cy="502920"/>
          </a:xfrm>
          <a:prstGeom prst="rect">
            <a:avLst/>
          </a:prstGeom>
          <a:noFill/>
        </p:spPr>
        <p:txBody>
          <a:bodyPr wrap="square" lIns="0" rIns="0" tIns="0" bIns="0" anchor="ctr">
            <a:spAutoFit/>
          </a:bodyPr>
          <a:lstStyle/>
          <a:p>
            <a:pPr algn="ctr"/>
            <a:r>
              <a:rPr sz="1500" b="1">
                <a:solidFill>
                  <a:srgbClr val="FFFFFF"/>
                </a:solidFill>
                <a:latin typeface="Malgun Gothic"/>
                <a:ea typeface="Malgun Gothic"/>
                <a:cs typeface="Malgun Gothic"/>
              </a:rPr>
              <a:t>1</a:t>
            </a:r>
          </a:p>
        </p:txBody>
      </p:sp>
      <p:sp>
        <p:nvSpPr>
          <p:cNvPr id="6" name="TextBox 5"/>
          <p:cNvSpPr txBox="1"/>
          <p:nvPr/>
        </p:nvSpPr>
        <p:spPr>
          <a:xfrm>
            <a:off x="1463040" y="1645920"/>
            <a:ext cx="1645920" cy="502920"/>
          </a:xfrm>
          <a:prstGeom prst="rect">
            <a:avLst/>
          </a:prstGeom>
          <a:noFill/>
        </p:spPr>
        <p:txBody>
          <a:bodyPr wrap="square" lIns="0" rIns="0" tIns="0" bIns="0" anchor="ctr">
            <a:spAutoFit/>
          </a:bodyPr>
          <a:lstStyle/>
          <a:p>
            <a:pPr algn="l"/>
            <a:r>
              <a:rPr sz="2000" b="1">
                <a:solidFill>
                  <a:srgbClr val="1F232B"/>
                </a:solidFill>
                <a:latin typeface="Malgun Gothic"/>
                <a:ea typeface="Malgun Gothic"/>
                <a:cs typeface="Malgun Gothic"/>
              </a:rPr>
              <a:t>수집</a:t>
            </a:r>
          </a:p>
        </p:txBody>
      </p:sp>
      <p:sp>
        <p:nvSpPr>
          <p:cNvPr id="7" name="TextBox 6"/>
          <p:cNvSpPr txBox="1"/>
          <p:nvPr/>
        </p:nvSpPr>
        <p:spPr>
          <a:xfrm>
            <a:off x="822960" y="2286000"/>
            <a:ext cx="2194560" cy="320040"/>
          </a:xfrm>
          <a:prstGeom prst="rect">
            <a:avLst/>
          </a:prstGeom>
          <a:noFill/>
        </p:spPr>
        <p:txBody>
          <a:bodyPr wrap="square" lIns="0" rIns="0" tIns="0" bIns="0" anchor="t">
            <a:spAutoFit/>
          </a:bodyPr>
          <a:lstStyle/>
          <a:p>
            <a:pPr algn="l"/>
            <a:r>
              <a:rPr sz="1200" b="1">
                <a:solidFill>
                  <a:srgbClr val="0058B2"/>
                </a:solidFill>
                <a:latin typeface="Malgun Gothic"/>
                <a:ea typeface="Malgun Gothic"/>
                <a:cs typeface="Malgun Gothic"/>
              </a:rPr>
              <a:t>매시간 자동</a:t>
            </a:r>
          </a:p>
        </p:txBody>
      </p:sp>
      <p:sp>
        <p:nvSpPr>
          <p:cNvPr id="8" name="TextBox 7"/>
          <p:cNvSpPr txBox="1"/>
          <p:nvPr/>
        </p:nvSpPr>
        <p:spPr>
          <a:xfrm>
            <a:off x="822960" y="2697480"/>
            <a:ext cx="2286000" cy="1920240"/>
          </a:xfrm>
          <a:prstGeom prst="rect">
            <a:avLst/>
          </a:prstGeom>
          <a:noFill/>
        </p:spPr>
        <p:txBody>
          <a:bodyPr wrap="square" lIns="0" rIns="0" tIns="0" bIns="0" anchor="t">
            <a:spAutoFit/>
          </a:bodyPr>
          <a:lstStyle/>
          <a:p>
            <a:pPr algn="l">
              <a:spcAft>
                <a:spcPts val="100"/>
              </a:spcAft>
            </a:pPr>
            <a:r>
              <a:rPr sz="1150" b="0">
                <a:solidFill>
                  <a:srgbClr val="1F232B"/>
                </a:solidFill>
                <a:latin typeface="Malgun Gothic"/>
                <a:ea typeface="Malgun Gothic"/>
                <a:cs typeface="Malgun Gothic"/>
              </a:rPr>
              <a:t>학교 게시판 112곳 크롤링</a:t>
            </a:r>
          </a:p>
          <a:p>
            <a:pPr algn="l">
              <a:spcAft>
                <a:spcPts val="100"/>
              </a:spcAft>
            </a:pPr>
            <a:r>
              <a:rPr sz="1150" b="0">
                <a:solidFill>
                  <a:srgbClr val="1F232B"/>
                </a:solidFill>
                <a:latin typeface="Malgun Gothic"/>
                <a:ea typeface="Malgun Gothic"/>
                <a:cs typeface="Malgun Gothic"/>
              </a:rPr>
              <a:t>(학교 사이트만)</a:t>
            </a:r>
          </a:p>
          <a:p>
            <a:pPr algn="l">
              <a:spcAft>
                <a:spcPts val="100"/>
              </a:spcAft>
            </a:pPr>
            <a:r>
              <a:rPr sz="1150" b="0">
                <a:solidFill>
                  <a:srgbClr val="1F232B"/>
                </a:solidFill>
                <a:latin typeface="Malgun Gothic"/>
                <a:ea typeface="Malgun Gothic"/>
                <a:cs typeface="Malgun Gothic"/>
              </a:rPr>
              <a:t>공공데이터 API 4종</a:t>
            </a:r>
          </a:p>
          <a:p>
            <a:pPr algn="l">
              <a:spcAft>
                <a:spcPts val="100"/>
              </a:spcAft>
            </a:pPr>
            <a:r>
              <a:rPr sz="1150" b="0">
                <a:solidFill>
                  <a:srgbClr val="1F232B"/>
                </a:solidFill>
                <a:latin typeface="Malgun Gothic"/>
                <a:ea typeface="Malgun Gothic"/>
                <a:cs typeface="Malgun Gothic"/>
              </a:rPr>
              <a:t>큐넷·데이터자격·</a:t>
            </a:r>
          </a:p>
          <a:p>
            <a:pPr algn="l">
              <a:spcAft>
                <a:spcPts val="100"/>
              </a:spcAft>
            </a:pPr>
            <a:r>
              <a:rPr sz="1150" b="0">
                <a:solidFill>
                  <a:srgbClr val="1F232B"/>
                </a:solidFill>
                <a:latin typeface="Malgun Gothic"/>
                <a:ea typeface="Malgun Gothic"/>
                <a:cs typeface="Malgun Gothic"/>
              </a:rPr>
              <a:t>K-Startup·한국장학재단</a:t>
            </a:r>
          </a:p>
        </p:txBody>
      </p:sp>
      <p:sp>
        <p:nvSpPr>
          <p:cNvPr id="9" name="Right Arrow 8"/>
          <p:cNvSpPr/>
          <p:nvPr/>
        </p:nvSpPr>
        <p:spPr>
          <a:xfrm>
            <a:off x="3182112" y="2788920"/>
            <a:ext cx="237744" cy="365760"/>
          </a:xfrm>
          <a:prstGeom prst="rightArrow">
            <a:avLst/>
          </a:prstGeom>
          <a:solidFill>
            <a:srgbClr val="B8C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447288" y="1417320"/>
            <a:ext cx="2560320" cy="3108960"/>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675887" y="1645920"/>
            <a:ext cx="502920" cy="502920"/>
          </a:xfrm>
          <a:prstGeom prst="ellipse">
            <a:avLst/>
          </a:prstGeom>
          <a:solidFill>
            <a:srgbClr val="005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5887" y="1645920"/>
            <a:ext cx="502920" cy="502920"/>
          </a:xfrm>
          <a:prstGeom prst="rect">
            <a:avLst/>
          </a:prstGeom>
          <a:noFill/>
        </p:spPr>
        <p:txBody>
          <a:bodyPr wrap="square" lIns="0" rIns="0" tIns="0" bIns="0" anchor="ctr">
            <a:spAutoFit/>
          </a:bodyPr>
          <a:lstStyle/>
          <a:p>
            <a:pPr algn="ctr"/>
            <a:r>
              <a:rPr sz="1500" b="1">
                <a:solidFill>
                  <a:srgbClr val="FFFFFF"/>
                </a:solidFill>
                <a:latin typeface="Malgun Gothic"/>
                <a:ea typeface="Malgun Gothic"/>
                <a:cs typeface="Malgun Gothic"/>
              </a:rPr>
              <a:t>2</a:t>
            </a:r>
          </a:p>
        </p:txBody>
      </p:sp>
      <p:sp>
        <p:nvSpPr>
          <p:cNvPr id="13" name="TextBox 12"/>
          <p:cNvSpPr txBox="1"/>
          <p:nvPr/>
        </p:nvSpPr>
        <p:spPr>
          <a:xfrm>
            <a:off x="4315968" y="1645920"/>
            <a:ext cx="1645920" cy="502920"/>
          </a:xfrm>
          <a:prstGeom prst="rect">
            <a:avLst/>
          </a:prstGeom>
          <a:noFill/>
        </p:spPr>
        <p:txBody>
          <a:bodyPr wrap="square" lIns="0" rIns="0" tIns="0" bIns="0" anchor="ctr">
            <a:spAutoFit/>
          </a:bodyPr>
          <a:lstStyle/>
          <a:p>
            <a:pPr algn="l"/>
            <a:r>
              <a:rPr sz="2000" b="1">
                <a:solidFill>
                  <a:srgbClr val="1F232B"/>
                </a:solidFill>
                <a:latin typeface="Malgun Gothic"/>
                <a:ea typeface="Malgun Gothic"/>
                <a:cs typeface="Malgun Gothic"/>
              </a:rPr>
              <a:t>읽기</a:t>
            </a:r>
          </a:p>
        </p:txBody>
      </p:sp>
      <p:sp>
        <p:nvSpPr>
          <p:cNvPr id="14" name="TextBox 13"/>
          <p:cNvSpPr txBox="1"/>
          <p:nvPr/>
        </p:nvSpPr>
        <p:spPr>
          <a:xfrm>
            <a:off x="3675887" y="2286000"/>
            <a:ext cx="2194560" cy="320040"/>
          </a:xfrm>
          <a:prstGeom prst="rect">
            <a:avLst/>
          </a:prstGeom>
          <a:noFill/>
        </p:spPr>
        <p:txBody>
          <a:bodyPr wrap="square" lIns="0" rIns="0" tIns="0" bIns="0" anchor="t">
            <a:spAutoFit/>
          </a:bodyPr>
          <a:lstStyle/>
          <a:p>
            <a:pPr algn="l"/>
            <a:r>
              <a:rPr sz="1200" b="1">
                <a:solidFill>
                  <a:srgbClr val="0058B2"/>
                </a:solidFill>
                <a:latin typeface="Malgun Gothic"/>
                <a:ea typeface="Malgun Gothic"/>
                <a:cs typeface="Malgun Gothic"/>
              </a:rPr>
              <a:t>본문 + 첨부</a:t>
            </a:r>
          </a:p>
        </p:txBody>
      </p:sp>
      <p:sp>
        <p:nvSpPr>
          <p:cNvPr id="15" name="TextBox 14"/>
          <p:cNvSpPr txBox="1"/>
          <p:nvPr/>
        </p:nvSpPr>
        <p:spPr>
          <a:xfrm>
            <a:off x="3675887" y="2697480"/>
            <a:ext cx="2286000" cy="1920240"/>
          </a:xfrm>
          <a:prstGeom prst="rect">
            <a:avLst/>
          </a:prstGeom>
          <a:noFill/>
        </p:spPr>
        <p:txBody>
          <a:bodyPr wrap="square" lIns="0" rIns="0" tIns="0" bIns="0" anchor="t">
            <a:spAutoFit/>
          </a:bodyPr>
          <a:lstStyle/>
          <a:p>
            <a:pPr algn="l">
              <a:spcAft>
                <a:spcPts val="100"/>
              </a:spcAft>
            </a:pPr>
            <a:r>
              <a:rPr sz="1150" b="0">
                <a:solidFill>
                  <a:srgbClr val="1F232B"/>
                </a:solidFill>
                <a:latin typeface="Malgun Gothic"/>
                <a:ea typeface="Malgun Gothic"/>
                <a:cs typeface="Malgun Gothic"/>
              </a:rPr>
              <a:t>HWP·HWPX·PDF·DOCX</a:t>
            </a:r>
          </a:p>
          <a:p>
            <a:pPr algn="l">
              <a:spcAft>
                <a:spcPts val="100"/>
              </a:spcAft>
            </a:pPr>
            <a:r>
              <a:rPr sz="1150" b="0">
                <a:solidFill>
                  <a:srgbClr val="1F232B"/>
                </a:solidFill>
                <a:latin typeface="Malgun Gothic"/>
                <a:ea typeface="Malgun Gothic"/>
                <a:cs typeface="Malgun Gothic"/>
              </a:rPr>
              <a:t>첨부파일 텍스트 추출</a:t>
            </a:r>
          </a:p>
          <a:p>
            <a:pPr algn="l">
              <a:spcAft>
                <a:spcPts val="100"/>
              </a:spcAft>
            </a:pPr>
            <a:r>
              <a:rPr sz="1150" b="0">
                <a:solidFill>
                  <a:srgbClr val="1F232B"/>
                </a:solidFill>
                <a:latin typeface="Malgun Gothic"/>
                <a:ea typeface="Malgun Gothic"/>
                <a:cs typeface="Malgun Gothic"/>
              </a:rPr>
              <a:t>같은 공지 중복 묶기</a:t>
            </a:r>
          </a:p>
        </p:txBody>
      </p:sp>
      <p:sp>
        <p:nvSpPr>
          <p:cNvPr id="16" name="Right Arrow 15"/>
          <p:cNvSpPr/>
          <p:nvPr/>
        </p:nvSpPr>
        <p:spPr>
          <a:xfrm>
            <a:off x="6035040" y="2788920"/>
            <a:ext cx="237744" cy="365760"/>
          </a:xfrm>
          <a:prstGeom prst="rightArrow">
            <a:avLst/>
          </a:prstGeom>
          <a:solidFill>
            <a:srgbClr val="B8C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300216" y="1417320"/>
            <a:ext cx="2560320" cy="3108960"/>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528816" y="1645920"/>
            <a:ext cx="502920" cy="502920"/>
          </a:xfrm>
          <a:prstGeom prst="ellipse">
            <a:avLst/>
          </a:prstGeom>
          <a:solidFill>
            <a:srgbClr val="005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28816" y="1645920"/>
            <a:ext cx="502920" cy="502920"/>
          </a:xfrm>
          <a:prstGeom prst="rect">
            <a:avLst/>
          </a:prstGeom>
          <a:noFill/>
        </p:spPr>
        <p:txBody>
          <a:bodyPr wrap="square" lIns="0" rIns="0" tIns="0" bIns="0" anchor="ctr">
            <a:spAutoFit/>
          </a:bodyPr>
          <a:lstStyle/>
          <a:p>
            <a:pPr algn="ctr"/>
            <a:r>
              <a:rPr sz="1500" b="1">
                <a:solidFill>
                  <a:srgbClr val="FFFFFF"/>
                </a:solidFill>
                <a:latin typeface="Malgun Gothic"/>
                <a:ea typeface="Malgun Gothic"/>
                <a:cs typeface="Malgun Gothic"/>
              </a:rPr>
              <a:t>3</a:t>
            </a:r>
          </a:p>
        </p:txBody>
      </p:sp>
      <p:sp>
        <p:nvSpPr>
          <p:cNvPr id="20" name="TextBox 19"/>
          <p:cNvSpPr txBox="1"/>
          <p:nvPr/>
        </p:nvSpPr>
        <p:spPr>
          <a:xfrm>
            <a:off x="7168896" y="1645920"/>
            <a:ext cx="1645920" cy="502920"/>
          </a:xfrm>
          <a:prstGeom prst="rect">
            <a:avLst/>
          </a:prstGeom>
          <a:noFill/>
        </p:spPr>
        <p:txBody>
          <a:bodyPr wrap="square" lIns="0" rIns="0" tIns="0" bIns="0" anchor="ctr">
            <a:spAutoFit/>
          </a:bodyPr>
          <a:lstStyle/>
          <a:p>
            <a:pPr algn="l"/>
            <a:r>
              <a:rPr sz="2000" b="1">
                <a:solidFill>
                  <a:srgbClr val="1F232B"/>
                </a:solidFill>
                <a:latin typeface="Malgun Gothic"/>
                <a:ea typeface="Malgun Gothic"/>
                <a:cs typeface="Malgun Gothic"/>
              </a:rPr>
              <a:t>정리</a:t>
            </a:r>
          </a:p>
        </p:txBody>
      </p:sp>
      <p:sp>
        <p:nvSpPr>
          <p:cNvPr id="21" name="TextBox 20"/>
          <p:cNvSpPr txBox="1"/>
          <p:nvPr/>
        </p:nvSpPr>
        <p:spPr>
          <a:xfrm>
            <a:off x="6528816" y="2286000"/>
            <a:ext cx="2194560" cy="320040"/>
          </a:xfrm>
          <a:prstGeom prst="rect">
            <a:avLst/>
          </a:prstGeom>
          <a:noFill/>
        </p:spPr>
        <p:txBody>
          <a:bodyPr wrap="square" lIns="0" rIns="0" tIns="0" bIns="0" anchor="t">
            <a:spAutoFit/>
          </a:bodyPr>
          <a:lstStyle/>
          <a:p>
            <a:pPr algn="l"/>
            <a:r>
              <a:rPr sz="1200" b="1">
                <a:solidFill>
                  <a:srgbClr val="0058B2"/>
                </a:solidFill>
                <a:latin typeface="Malgun Gothic"/>
                <a:ea typeface="Malgun Gothic"/>
                <a:cs typeface="Malgun Gothic"/>
              </a:rPr>
              <a:t>서버 안 AI + 규칙</a:t>
            </a:r>
          </a:p>
        </p:txBody>
      </p:sp>
      <p:sp>
        <p:nvSpPr>
          <p:cNvPr id="22" name="TextBox 21"/>
          <p:cNvSpPr txBox="1"/>
          <p:nvPr/>
        </p:nvSpPr>
        <p:spPr>
          <a:xfrm>
            <a:off x="6528816" y="2697480"/>
            <a:ext cx="2286000" cy="1920240"/>
          </a:xfrm>
          <a:prstGeom prst="rect">
            <a:avLst/>
          </a:prstGeom>
          <a:noFill/>
        </p:spPr>
        <p:txBody>
          <a:bodyPr wrap="square" lIns="0" rIns="0" tIns="0" bIns="0" anchor="t">
            <a:spAutoFit/>
          </a:bodyPr>
          <a:lstStyle/>
          <a:p>
            <a:pPr algn="l">
              <a:spcAft>
                <a:spcPts val="100"/>
              </a:spcAft>
            </a:pPr>
            <a:r>
              <a:rPr sz="1150" b="0">
                <a:solidFill>
                  <a:srgbClr val="1F232B"/>
                </a:solidFill>
                <a:latin typeface="Malgun Gothic"/>
                <a:ea typeface="Malgun Gothic"/>
                <a:cs typeface="Malgun Gothic"/>
              </a:rPr>
              <a:t>분야 분류: MiniLM 다국어</a:t>
            </a:r>
          </a:p>
          <a:p>
            <a:pPr algn="l">
              <a:spcAft>
                <a:spcPts val="100"/>
              </a:spcAft>
            </a:pPr>
            <a:r>
              <a:rPr sz="1150" b="0">
                <a:solidFill>
                  <a:srgbClr val="1F232B"/>
                </a:solidFill>
                <a:latin typeface="Malgun Gothic"/>
                <a:ea typeface="Malgun Gothic"/>
                <a:cs typeface="Malgun Gothic"/>
              </a:rPr>
              <a:t>임베딩(서버에서 실행)</a:t>
            </a:r>
          </a:p>
          <a:p>
            <a:pPr algn="l">
              <a:spcAft>
                <a:spcPts val="100"/>
              </a:spcAft>
            </a:pPr>
            <a:r>
              <a:rPr sz="1150" b="0">
                <a:solidFill>
                  <a:srgbClr val="1F232B"/>
                </a:solidFill>
                <a:latin typeface="Malgun Gothic"/>
                <a:ea typeface="Malgun Gothic"/>
                <a:cs typeface="Malgun Gothic"/>
              </a:rPr>
              <a:t>날짜 추출: 접수 시작·마감·</a:t>
            </a:r>
          </a:p>
          <a:p>
            <a:pPr algn="l">
              <a:spcAft>
                <a:spcPts val="100"/>
              </a:spcAft>
            </a:pPr>
            <a:r>
              <a:rPr sz="1150" b="0">
                <a:solidFill>
                  <a:srgbClr val="1F232B"/>
                </a:solidFill>
                <a:latin typeface="Malgun Gothic"/>
                <a:ea typeface="Malgun Gothic"/>
                <a:cs typeface="Malgun Gothic"/>
              </a:rPr>
              <a:t>시험일·발표일</a:t>
            </a:r>
          </a:p>
          <a:p>
            <a:pPr algn="l">
              <a:spcAft>
                <a:spcPts val="100"/>
              </a:spcAft>
            </a:pPr>
            <a:r>
              <a:rPr sz="1150" b="0">
                <a:solidFill>
                  <a:srgbClr val="1F232B"/>
                </a:solidFill>
                <a:latin typeface="Malgun Gothic"/>
                <a:ea typeface="Malgun Gothic"/>
                <a:cs typeface="Malgun Gothic"/>
              </a:rPr>
              <a:t>상세 칸 표: 대상·기간·</a:t>
            </a:r>
          </a:p>
          <a:p>
            <a:pPr algn="l">
              <a:spcAft>
                <a:spcPts val="100"/>
              </a:spcAft>
            </a:pPr>
            <a:r>
              <a:rPr sz="1150" b="0">
                <a:solidFill>
                  <a:srgbClr val="1F232B"/>
                </a:solidFill>
                <a:latin typeface="Malgun Gothic"/>
                <a:ea typeface="Malgun Gothic"/>
                <a:cs typeface="Malgun Gothic"/>
              </a:rPr>
              <a:t>신청방법·문의·주관</a:t>
            </a:r>
          </a:p>
        </p:txBody>
      </p:sp>
      <p:sp>
        <p:nvSpPr>
          <p:cNvPr id="23" name="Right Arrow 22"/>
          <p:cNvSpPr/>
          <p:nvPr/>
        </p:nvSpPr>
        <p:spPr>
          <a:xfrm>
            <a:off x="8887968" y="2788920"/>
            <a:ext cx="237744" cy="365760"/>
          </a:xfrm>
          <a:prstGeom prst="rightArrow">
            <a:avLst/>
          </a:prstGeom>
          <a:solidFill>
            <a:srgbClr val="B8C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153144" y="1417320"/>
            <a:ext cx="2560320" cy="3108960"/>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381744" y="1645920"/>
            <a:ext cx="502920" cy="502920"/>
          </a:xfrm>
          <a:prstGeom prst="ellipse">
            <a:avLst/>
          </a:prstGeom>
          <a:solidFill>
            <a:srgbClr val="005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81744" y="1645920"/>
            <a:ext cx="502920" cy="502920"/>
          </a:xfrm>
          <a:prstGeom prst="rect">
            <a:avLst/>
          </a:prstGeom>
          <a:noFill/>
        </p:spPr>
        <p:txBody>
          <a:bodyPr wrap="square" lIns="0" rIns="0" tIns="0" bIns="0" anchor="ctr">
            <a:spAutoFit/>
          </a:bodyPr>
          <a:lstStyle/>
          <a:p>
            <a:pPr algn="ctr"/>
            <a:r>
              <a:rPr sz="1500" b="1">
                <a:solidFill>
                  <a:srgbClr val="FFFFFF"/>
                </a:solidFill>
                <a:latin typeface="Malgun Gothic"/>
                <a:ea typeface="Malgun Gothic"/>
                <a:cs typeface="Malgun Gothic"/>
              </a:rPr>
              <a:t>4</a:t>
            </a:r>
          </a:p>
        </p:txBody>
      </p:sp>
      <p:sp>
        <p:nvSpPr>
          <p:cNvPr id="27" name="TextBox 26"/>
          <p:cNvSpPr txBox="1"/>
          <p:nvPr/>
        </p:nvSpPr>
        <p:spPr>
          <a:xfrm>
            <a:off x="10021824" y="1645920"/>
            <a:ext cx="1645920" cy="502920"/>
          </a:xfrm>
          <a:prstGeom prst="rect">
            <a:avLst/>
          </a:prstGeom>
          <a:noFill/>
        </p:spPr>
        <p:txBody>
          <a:bodyPr wrap="square" lIns="0" rIns="0" tIns="0" bIns="0" anchor="ctr">
            <a:spAutoFit/>
          </a:bodyPr>
          <a:lstStyle/>
          <a:p>
            <a:pPr algn="l"/>
            <a:r>
              <a:rPr sz="2000" b="1">
                <a:solidFill>
                  <a:srgbClr val="1F232B"/>
                </a:solidFill>
                <a:latin typeface="Malgun Gothic"/>
                <a:ea typeface="Malgun Gothic"/>
                <a:cs typeface="Malgun Gothic"/>
              </a:rPr>
              <a:t>전달</a:t>
            </a:r>
          </a:p>
        </p:txBody>
      </p:sp>
      <p:sp>
        <p:nvSpPr>
          <p:cNvPr id="28" name="TextBox 27"/>
          <p:cNvSpPr txBox="1"/>
          <p:nvPr/>
        </p:nvSpPr>
        <p:spPr>
          <a:xfrm>
            <a:off x="9381744" y="2286000"/>
            <a:ext cx="2194560" cy="320040"/>
          </a:xfrm>
          <a:prstGeom prst="rect">
            <a:avLst/>
          </a:prstGeom>
          <a:noFill/>
        </p:spPr>
        <p:txBody>
          <a:bodyPr wrap="square" lIns="0" rIns="0" tIns="0" bIns="0" anchor="t">
            <a:spAutoFit/>
          </a:bodyPr>
          <a:lstStyle/>
          <a:p>
            <a:pPr algn="l"/>
            <a:r>
              <a:rPr sz="1200" b="1">
                <a:solidFill>
                  <a:srgbClr val="0058B2"/>
                </a:solidFill>
                <a:latin typeface="Malgun Gothic"/>
                <a:ea typeface="Malgun Gothic"/>
                <a:cs typeface="Malgun Gothic"/>
              </a:rPr>
              <a:t>나에게 맞게</a:t>
            </a:r>
          </a:p>
        </p:txBody>
      </p:sp>
      <p:sp>
        <p:nvSpPr>
          <p:cNvPr id="29" name="TextBox 28"/>
          <p:cNvSpPr txBox="1"/>
          <p:nvPr/>
        </p:nvSpPr>
        <p:spPr>
          <a:xfrm>
            <a:off x="9381744" y="2697480"/>
            <a:ext cx="2286000" cy="1920240"/>
          </a:xfrm>
          <a:prstGeom prst="rect">
            <a:avLst/>
          </a:prstGeom>
          <a:noFill/>
        </p:spPr>
        <p:txBody>
          <a:bodyPr wrap="square" lIns="0" rIns="0" tIns="0" bIns="0" anchor="t">
            <a:spAutoFit/>
          </a:bodyPr>
          <a:lstStyle/>
          <a:p>
            <a:pPr algn="l">
              <a:spcAft>
                <a:spcPts val="100"/>
              </a:spcAft>
            </a:pPr>
            <a:r>
              <a:rPr sz="1150" b="0">
                <a:solidFill>
                  <a:srgbClr val="1F232B"/>
                </a:solidFill>
                <a:latin typeface="Malgun Gothic"/>
                <a:ea typeface="Malgun Gothic"/>
                <a:cs typeface="Malgun Gothic"/>
              </a:rPr>
              <a:t>학과·관심사 점수 + 이유</a:t>
            </a:r>
          </a:p>
          <a:p>
            <a:pPr algn="l">
              <a:spcAft>
                <a:spcPts val="100"/>
              </a:spcAft>
            </a:pPr>
            <a:r>
              <a:rPr sz="1150" b="0">
                <a:solidFill>
                  <a:srgbClr val="1F232B"/>
                </a:solidFill>
                <a:latin typeface="Malgun Gothic"/>
                <a:ea typeface="Malgun Gothic"/>
                <a:cs typeface="Malgun Gothic"/>
              </a:rPr>
              <a:t>웹 푸시(설치 없는 PWA)</a:t>
            </a:r>
          </a:p>
          <a:p>
            <a:pPr algn="l">
              <a:spcAft>
                <a:spcPts val="100"/>
              </a:spcAft>
            </a:pPr>
            <a:r>
              <a:rPr sz="1150" b="0">
                <a:solidFill>
                  <a:srgbClr val="1F232B"/>
                </a:solidFill>
                <a:latin typeface="Malgun Gothic"/>
                <a:ea typeface="Malgun Gothic"/>
                <a:cs typeface="Malgun Gothic"/>
              </a:rPr>
              <a:t>알림함 · 캘린더(.ics)</a:t>
            </a:r>
          </a:p>
          <a:p>
            <a:pPr algn="l">
              <a:spcAft>
                <a:spcPts val="100"/>
              </a:spcAft>
            </a:pPr>
            <a:r>
              <a:rPr sz="1150" b="0">
                <a:solidFill>
                  <a:srgbClr val="1F232B"/>
                </a:solidFill>
                <a:latin typeface="Malgun Gothic"/>
                <a:ea typeface="Malgun Gothic"/>
                <a:cs typeface="Malgun Gothic"/>
              </a:rPr>
              <a:t>밤에는 모아서 아침에</a:t>
            </a:r>
          </a:p>
        </p:txBody>
      </p:sp>
      <p:sp>
        <p:nvSpPr>
          <p:cNvPr id="30" name="Rounded Rectangle 29"/>
          <p:cNvSpPr/>
          <p:nvPr/>
        </p:nvSpPr>
        <p:spPr>
          <a:xfrm>
            <a:off x="594360" y="4937760"/>
            <a:ext cx="5440680" cy="530352"/>
          </a:xfrm>
          <a:prstGeom prst="roundRect">
            <a:avLst>
              <a:gd name="adj" fmla="val 20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4937760"/>
            <a:ext cx="731520" cy="530352"/>
          </a:xfrm>
          <a:prstGeom prst="rect">
            <a:avLst/>
          </a:prstGeom>
          <a:noFill/>
        </p:spPr>
        <p:txBody>
          <a:bodyPr wrap="square" lIns="0" rIns="0" tIns="0" bIns="0" anchor="ctr">
            <a:spAutoFit/>
          </a:bodyPr>
          <a:lstStyle/>
          <a:p>
            <a:pPr algn="l"/>
            <a:r>
              <a:rPr sz="1200" b="1">
                <a:solidFill>
                  <a:srgbClr val="0058B2"/>
                </a:solidFill>
                <a:latin typeface="Malgun Gothic"/>
                <a:ea typeface="Malgun Gothic"/>
                <a:cs typeface="Malgun Gothic"/>
              </a:rPr>
              <a:t>화면</a:t>
            </a:r>
          </a:p>
        </p:txBody>
      </p:sp>
      <p:sp>
        <p:nvSpPr>
          <p:cNvPr id="32" name="TextBox 31"/>
          <p:cNvSpPr txBox="1"/>
          <p:nvPr/>
        </p:nvSpPr>
        <p:spPr>
          <a:xfrm>
            <a:off x="1508760" y="4937760"/>
            <a:ext cx="4434840" cy="530352"/>
          </a:xfrm>
          <a:prstGeom prst="rect">
            <a:avLst/>
          </a:prstGeom>
          <a:noFill/>
        </p:spPr>
        <p:txBody>
          <a:bodyPr wrap="square" lIns="0" rIns="0" tIns="0" bIns="0" anchor="ctr">
            <a:spAutoFit/>
          </a:bodyPr>
          <a:lstStyle/>
          <a:p>
            <a:pPr algn="l"/>
            <a:r>
              <a:rPr sz="1150" b="0">
                <a:solidFill>
                  <a:srgbClr val="1F232B"/>
                </a:solidFill>
                <a:latin typeface="Malgun Gothic"/>
                <a:ea typeface="Malgun Gothic"/>
                <a:cs typeface="Malgun Gothic"/>
              </a:rPr>
              <a:t>Next.js · React · TypeScript · PWA → Vercel</a:t>
            </a:r>
          </a:p>
        </p:txBody>
      </p:sp>
      <p:sp>
        <p:nvSpPr>
          <p:cNvPr id="33" name="Rounded Rectangle 32"/>
          <p:cNvSpPr/>
          <p:nvPr/>
        </p:nvSpPr>
        <p:spPr>
          <a:xfrm>
            <a:off x="6263640" y="4937760"/>
            <a:ext cx="5440680" cy="530352"/>
          </a:xfrm>
          <a:prstGeom prst="roundRect">
            <a:avLst>
              <a:gd name="adj" fmla="val 20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92240" y="4937760"/>
            <a:ext cx="731520" cy="530352"/>
          </a:xfrm>
          <a:prstGeom prst="rect">
            <a:avLst/>
          </a:prstGeom>
          <a:noFill/>
        </p:spPr>
        <p:txBody>
          <a:bodyPr wrap="square" lIns="0" rIns="0" tIns="0" bIns="0" anchor="ctr">
            <a:spAutoFit/>
          </a:bodyPr>
          <a:lstStyle/>
          <a:p>
            <a:pPr algn="l"/>
            <a:r>
              <a:rPr sz="1200" b="1">
                <a:solidFill>
                  <a:srgbClr val="0058B2"/>
                </a:solidFill>
                <a:latin typeface="Malgun Gothic"/>
                <a:ea typeface="Malgun Gothic"/>
                <a:cs typeface="Malgun Gothic"/>
              </a:rPr>
              <a:t>서버</a:t>
            </a:r>
          </a:p>
        </p:txBody>
      </p:sp>
      <p:sp>
        <p:nvSpPr>
          <p:cNvPr id="35" name="TextBox 34"/>
          <p:cNvSpPr txBox="1"/>
          <p:nvPr/>
        </p:nvSpPr>
        <p:spPr>
          <a:xfrm>
            <a:off x="7178040" y="4937760"/>
            <a:ext cx="4434840" cy="530352"/>
          </a:xfrm>
          <a:prstGeom prst="rect">
            <a:avLst/>
          </a:prstGeom>
          <a:noFill/>
        </p:spPr>
        <p:txBody>
          <a:bodyPr wrap="square" lIns="0" rIns="0" tIns="0" bIns="0" anchor="ctr">
            <a:spAutoFit/>
          </a:bodyPr>
          <a:lstStyle/>
          <a:p>
            <a:pPr algn="l"/>
            <a:r>
              <a:rPr sz="1150" b="0">
                <a:solidFill>
                  <a:srgbClr val="1F232B"/>
                </a:solidFill>
                <a:latin typeface="Malgun Gothic"/>
                <a:ea typeface="Malgun Gothic"/>
                <a:cs typeface="Malgun Gothic"/>
              </a:rPr>
              <a:t>Python · FastAPI · SQLite · APScheduler(매시간 수집·1분 알림)</a:t>
            </a:r>
          </a:p>
        </p:txBody>
      </p:sp>
      <p:sp>
        <p:nvSpPr>
          <p:cNvPr id="36" name="Rounded Rectangle 35"/>
          <p:cNvSpPr/>
          <p:nvPr/>
        </p:nvSpPr>
        <p:spPr>
          <a:xfrm>
            <a:off x="594360" y="5596128"/>
            <a:ext cx="5440680" cy="530352"/>
          </a:xfrm>
          <a:prstGeom prst="roundRect">
            <a:avLst>
              <a:gd name="adj" fmla="val 20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2960" y="5596128"/>
            <a:ext cx="731520" cy="530352"/>
          </a:xfrm>
          <a:prstGeom prst="rect">
            <a:avLst/>
          </a:prstGeom>
          <a:noFill/>
        </p:spPr>
        <p:txBody>
          <a:bodyPr wrap="square" lIns="0" rIns="0" tIns="0" bIns="0" anchor="ctr">
            <a:spAutoFit/>
          </a:bodyPr>
          <a:lstStyle/>
          <a:p>
            <a:pPr algn="l"/>
            <a:r>
              <a:rPr sz="1200" b="1">
                <a:solidFill>
                  <a:srgbClr val="0058B2"/>
                </a:solidFill>
                <a:latin typeface="Malgun Gothic"/>
                <a:ea typeface="Malgun Gothic"/>
                <a:cs typeface="Malgun Gothic"/>
              </a:rPr>
              <a:t>운영</a:t>
            </a:r>
          </a:p>
        </p:txBody>
      </p:sp>
      <p:sp>
        <p:nvSpPr>
          <p:cNvPr id="38" name="TextBox 37"/>
          <p:cNvSpPr txBox="1"/>
          <p:nvPr/>
        </p:nvSpPr>
        <p:spPr>
          <a:xfrm>
            <a:off x="1508760" y="5596128"/>
            <a:ext cx="4434840" cy="530352"/>
          </a:xfrm>
          <a:prstGeom prst="rect">
            <a:avLst/>
          </a:prstGeom>
          <a:noFill/>
        </p:spPr>
        <p:txBody>
          <a:bodyPr wrap="square" lIns="0" rIns="0" tIns="0" bIns="0" anchor="ctr">
            <a:spAutoFit/>
          </a:bodyPr>
          <a:lstStyle/>
          <a:p>
            <a:pPr algn="l"/>
            <a:r>
              <a:rPr sz="1150" b="0">
                <a:solidFill>
                  <a:srgbClr val="1F232B"/>
                </a:solidFill>
                <a:latin typeface="Malgun Gothic"/>
                <a:ea typeface="Malgun Gothic"/>
                <a:cs typeface="Malgun Gothic"/>
              </a:rPr>
              <a:t>Oracle Cloud 무료 서버(ARM 2코어) · Caddy(https) · systemd</a:t>
            </a:r>
          </a:p>
        </p:txBody>
      </p:sp>
      <p:sp>
        <p:nvSpPr>
          <p:cNvPr id="39" name="Rounded Rectangle 38"/>
          <p:cNvSpPr/>
          <p:nvPr/>
        </p:nvSpPr>
        <p:spPr>
          <a:xfrm>
            <a:off x="6263640" y="5596128"/>
            <a:ext cx="5440680" cy="530352"/>
          </a:xfrm>
          <a:prstGeom prst="roundRect">
            <a:avLst>
              <a:gd name="adj" fmla="val 20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92240" y="5596128"/>
            <a:ext cx="731520" cy="530352"/>
          </a:xfrm>
          <a:prstGeom prst="rect">
            <a:avLst/>
          </a:prstGeom>
          <a:noFill/>
        </p:spPr>
        <p:txBody>
          <a:bodyPr wrap="square" lIns="0" rIns="0" tIns="0" bIns="0" anchor="ctr">
            <a:spAutoFit/>
          </a:bodyPr>
          <a:lstStyle/>
          <a:p>
            <a:pPr algn="l"/>
            <a:r>
              <a:rPr sz="1200" b="1">
                <a:solidFill>
                  <a:srgbClr val="0058B2"/>
                </a:solidFill>
                <a:latin typeface="Malgun Gothic"/>
                <a:ea typeface="Malgun Gothic"/>
                <a:cs typeface="Malgun Gothic"/>
              </a:rPr>
              <a:t>품질</a:t>
            </a:r>
          </a:p>
        </p:txBody>
      </p:sp>
      <p:sp>
        <p:nvSpPr>
          <p:cNvPr id="41" name="TextBox 40"/>
          <p:cNvSpPr txBox="1"/>
          <p:nvPr/>
        </p:nvSpPr>
        <p:spPr>
          <a:xfrm>
            <a:off x="7178040" y="5596128"/>
            <a:ext cx="4434840" cy="530352"/>
          </a:xfrm>
          <a:prstGeom prst="rect">
            <a:avLst/>
          </a:prstGeom>
          <a:noFill/>
        </p:spPr>
        <p:txBody>
          <a:bodyPr wrap="square" lIns="0" rIns="0" tIns="0" bIns="0" anchor="ctr">
            <a:spAutoFit/>
          </a:bodyPr>
          <a:lstStyle/>
          <a:p>
            <a:pPr algn="l"/>
            <a:r>
              <a:rPr sz="1150" b="0">
                <a:solidFill>
                  <a:srgbClr val="1F232B"/>
                </a:solidFill>
                <a:latin typeface="Malgun Gothic"/>
                <a:ea typeface="Malgun Gothic"/>
                <a:cs typeface="Malgun Gothic"/>
              </a:rPr>
              <a:t>자동 테스트 135개 · 외부 AI API 없음 → AI 비용 0원</a:t>
            </a:r>
          </a:p>
        </p:txBody>
      </p:sp>
      <p:sp>
        <p:nvSpPr>
          <p:cNvPr id="42" name="TextBox 41"/>
          <p:cNvSpPr txBox="1"/>
          <p:nvPr/>
        </p:nvSpPr>
        <p:spPr>
          <a:xfrm>
            <a:off x="11247120" y="6400800"/>
            <a:ext cx="457200" cy="274320"/>
          </a:xfrm>
          <a:prstGeom prst="rect">
            <a:avLst/>
          </a:prstGeom>
          <a:noFill/>
        </p:spPr>
        <p:txBody>
          <a:bodyPr wrap="square" lIns="0" rIns="0" tIns="0" bIns="0" anchor="t">
            <a:spAutoFit/>
          </a:bodyPr>
          <a:lstStyle/>
          <a:p>
            <a:pPr algn="r"/>
            <a:r>
              <a:rPr sz="1000" b="0">
                <a:solidFill>
                  <a:srgbClr val="666E7A"/>
                </a:solidFill>
                <a:latin typeface="Malgun Gothic"/>
                <a:ea typeface="Malgun Gothic"/>
                <a:cs typeface="Malgun Gothic"/>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594360" y="457200"/>
            <a:ext cx="10972800" cy="731520"/>
          </a:xfrm>
          <a:prstGeom prst="rect">
            <a:avLst/>
          </a:prstGeom>
          <a:noFill/>
        </p:spPr>
        <p:txBody>
          <a:bodyPr wrap="square" lIns="0" rIns="0" tIns="0" bIns="0" anchor="t">
            <a:spAutoFit/>
          </a:bodyPr>
          <a:lstStyle/>
          <a:p>
            <a:pPr algn="l"/>
            <a:r>
              <a:rPr sz="3000" b="1">
                <a:solidFill>
                  <a:srgbClr val="1F232B"/>
                </a:solidFill>
                <a:latin typeface="Malgun Gothic"/>
                <a:ea typeface="Malgun Gothic"/>
                <a:cs typeface="Malgun Gothic"/>
              </a:rPr>
              <a:t>시연: 설정 → 알림 → 교내·교외 공지 확인</a:t>
            </a:r>
          </a:p>
        </p:txBody>
      </p:sp>
      <p:sp>
        <p:nvSpPr>
          <p:cNvPr id="3" name="Oval 2"/>
          <p:cNvSpPr/>
          <p:nvPr/>
        </p:nvSpPr>
        <p:spPr>
          <a:xfrm>
            <a:off x="640080" y="1490472"/>
            <a:ext cx="457200" cy="457200"/>
          </a:xfrm>
          <a:prstGeom prst="ellipse">
            <a:avLst/>
          </a:prstGeom>
          <a:solidFill>
            <a:srgbClr val="005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90472"/>
            <a:ext cx="457200" cy="457200"/>
          </a:xfrm>
          <a:prstGeom prst="rect">
            <a:avLst/>
          </a:prstGeom>
          <a:noFill/>
        </p:spPr>
        <p:txBody>
          <a:bodyPr wrap="square" lIns="0" rIns="0" tIns="0" bIns="0" anchor="ctr">
            <a:spAutoFit/>
          </a:bodyPr>
          <a:lstStyle/>
          <a:p>
            <a:pPr algn="ctr"/>
            <a:r>
              <a:rPr sz="1400" b="1">
                <a:solidFill>
                  <a:srgbClr val="FFFFFF"/>
                </a:solidFill>
                <a:latin typeface="Malgun Gothic"/>
                <a:ea typeface="Malgun Gothic"/>
                <a:cs typeface="Malgun Gothic"/>
              </a:rPr>
              <a:t>1</a:t>
            </a:r>
          </a:p>
        </p:txBody>
      </p:sp>
      <p:sp>
        <p:nvSpPr>
          <p:cNvPr id="5" name="TextBox 4"/>
          <p:cNvSpPr txBox="1"/>
          <p:nvPr/>
        </p:nvSpPr>
        <p:spPr>
          <a:xfrm>
            <a:off x="1280160" y="1435608"/>
            <a:ext cx="4023360" cy="320040"/>
          </a:xfrm>
          <a:prstGeom prst="rect">
            <a:avLst/>
          </a:prstGeom>
          <a:noFill/>
        </p:spPr>
        <p:txBody>
          <a:bodyPr wrap="square" lIns="0" rIns="0" tIns="0" bIns="0" anchor="t">
            <a:spAutoFit/>
          </a:bodyPr>
          <a:lstStyle/>
          <a:p>
            <a:pPr algn="l"/>
            <a:r>
              <a:rPr sz="1500" b="1">
                <a:solidFill>
                  <a:srgbClr val="1F232B"/>
                </a:solidFill>
                <a:latin typeface="Malgun Gothic"/>
                <a:ea typeface="Malgun Gothic"/>
                <a:cs typeface="Malgun Gothic"/>
              </a:rPr>
              <a:t>학과 설정</a:t>
            </a:r>
          </a:p>
        </p:txBody>
      </p:sp>
      <p:sp>
        <p:nvSpPr>
          <p:cNvPr id="6" name="TextBox 5"/>
          <p:cNvSpPr txBox="1"/>
          <p:nvPr/>
        </p:nvSpPr>
        <p:spPr>
          <a:xfrm>
            <a:off x="1280160" y="1764792"/>
            <a:ext cx="4206240" cy="365760"/>
          </a:xfrm>
          <a:prstGeom prst="rect">
            <a:avLst/>
          </a:prstGeom>
          <a:noFill/>
        </p:spPr>
        <p:txBody>
          <a:bodyPr wrap="square" lIns="0" rIns="0" tIns="0" bIns="0" anchor="t">
            <a:spAutoFit/>
          </a:bodyPr>
          <a:lstStyle/>
          <a:p>
            <a:pPr algn="l"/>
            <a:r>
              <a:rPr sz="1100" b="0">
                <a:solidFill>
                  <a:srgbClr val="666E7A"/>
                </a:solidFill>
                <a:latin typeface="Malgun Gothic"/>
                <a:ea typeface="Malgun Gothic"/>
                <a:cs typeface="Malgun Gothic"/>
              </a:rPr>
              <a:t>'컴공'만 쳐도 컴퓨터공학전공 · 관심사 고르기</a:t>
            </a:r>
          </a:p>
        </p:txBody>
      </p:sp>
      <p:sp>
        <p:nvSpPr>
          <p:cNvPr id="7" name="Oval 6"/>
          <p:cNvSpPr/>
          <p:nvPr/>
        </p:nvSpPr>
        <p:spPr>
          <a:xfrm>
            <a:off x="640080" y="2276856"/>
            <a:ext cx="457200" cy="457200"/>
          </a:xfrm>
          <a:prstGeom prst="ellipse">
            <a:avLst/>
          </a:prstGeom>
          <a:solidFill>
            <a:srgbClr val="005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276856"/>
            <a:ext cx="457200" cy="457200"/>
          </a:xfrm>
          <a:prstGeom prst="rect">
            <a:avLst/>
          </a:prstGeom>
          <a:noFill/>
        </p:spPr>
        <p:txBody>
          <a:bodyPr wrap="square" lIns="0" rIns="0" tIns="0" bIns="0" anchor="ctr">
            <a:spAutoFit/>
          </a:bodyPr>
          <a:lstStyle/>
          <a:p>
            <a:pPr algn="ctr"/>
            <a:r>
              <a:rPr sz="1400" b="1">
                <a:solidFill>
                  <a:srgbClr val="FFFFFF"/>
                </a:solidFill>
                <a:latin typeface="Malgun Gothic"/>
                <a:ea typeface="Malgun Gothic"/>
                <a:cs typeface="Malgun Gothic"/>
              </a:rPr>
              <a:t>2</a:t>
            </a:r>
          </a:p>
        </p:txBody>
      </p:sp>
      <p:sp>
        <p:nvSpPr>
          <p:cNvPr id="9" name="TextBox 8"/>
          <p:cNvSpPr txBox="1"/>
          <p:nvPr/>
        </p:nvSpPr>
        <p:spPr>
          <a:xfrm>
            <a:off x="1280160" y="2221992"/>
            <a:ext cx="4023360" cy="320040"/>
          </a:xfrm>
          <a:prstGeom prst="rect">
            <a:avLst/>
          </a:prstGeom>
          <a:noFill/>
        </p:spPr>
        <p:txBody>
          <a:bodyPr wrap="square" lIns="0" rIns="0" tIns="0" bIns="0" anchor="t">
            <a:spAutoFit/>
          </a:bodyPr>
          <a:lstStyle/>
          <a:p>
            <a:pPr algn="l"/>
            <a:r>
              <a:rPr sz="1500" b="1">
                <a:solidFill>
                  <a:srgbClr val="1F232B"/>
                </a:solidFill>
                <a:latin typeface="Malgun Gothic"/>
                <a:ea typeface="Malgun Gothic"/>
                <a:cs typeface="Malgun Gothic"/>
              </a:rPr>
              <a:t>알림 받기</a:t>
            </a:r>
          </a:p>
        </p:txBody>
      </p:sp>
      <p:sp>
        <p:nvSpPr>
          <p:cNvPr id="10" name="TextBox 9"/>
          <p:cNvSpPr txBox="1"/>
          <p:nvPr/>
        </p:nvSpPr>
        <p:spPr>
          <a:xfrm>
            <a:off x="1280160" y="2551176"/>
            <a:ext cx="4206240" cy="365760"/>
          </a:xfrm>
          <a:prstGeom prst="rect">
            <a:avLst/>
          </a:prstGeom>
          <a:noFill/>
        </p:spPr>
        <p:txBody>
          <a:bodyPr wrap="square" lIns="0" rIns="0" tIns="0" bIns="0" anchor="t">
            <a:spAutoFit/>
          </a:bodyPr>
          <a:lstStyle/>
          <a:p>
            <a:pPr algn="l"/>
            <a:r>
              <a:rPr sz="1100" b="0">
                <a:solidFill>
                  <a:srgbClr val="666E7A"/>
                </a:solidFill>
                <a:latin typeface="Malgun Gothic"/>
                <a:ea typeface="Malgun Gothic"/>
                <a:cs typeface="Malgun Gothic"/>
              </a:rPr>
              <a:t>내 학과 공지·마감 알림이 휴대폰에 (녹화 영상)</a:t>
            </a:r>
          </a:p>
        </p:txBody>
      </p:sp>
      <p:sp>
        <p:nvSpPr>
          <p:cNvPr id="11" name="Oval 10"/>
          <p:cNvSpPr/>
          <p:nvPr/>
        </p:nvSpPr>
        <p:spPr>
          <a:xfrm>
            <a:off x="640080" y="3063240"/>
            <a:ext cx="457200" cy="457200"/>
          </a:xfrm>
          <a:prstGeom prst="ellipse">
            <a:avLst/>
          </a:prstGeom>
          <a:solidFill>
            <a:srgbClr val="005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063240"/>
            <a:ext cx="457200" cy="457200"/>
          </a:xfrm>
          <a:prstGeom prst="rect">
            <a:avLst/>
          </a:prstGeom>
          <a:noFill/>
        </p:spPr>
        <p:txBody>
          <a:bodyPr wrap="square" lIns="0" rIns="0" tIns="0" bIns="0" anchor="ctr">
            <a:spAutoFit/>
          </a:bodyPr>
          <a:lstStyle/>
          <a:p>
            <a:pPr algn="ctr"/>
            <a:r>
              <a:rPr sz="1400" b="1">
                <a:solidFill>
                  <a:srgbClr val="FFFFFF"/>
                </a:solidFill>
                <a:latin typeface="Malgun Gothic"/>
                <a:ea typeface="Malgun Gothic"/>
                <a:cs typeface="Malgun Gothic"/>
              </a:rPr>
              <a:t>3</a:t>
            </a:r>
          </a:p>
        </p:txBody>
      </p:sp>
      <p:sp>
        <p:nvSpPr>
          <p:cNvPr id="13" name="TextBox 12"/>
          <p:cNvSpPr txBox="1"/>
          <p:nvPr/>
        </p:nvSpPr>
        <p:spPr>
          <a:xfrm>
            <a:off x="1280160" y="3008376"/>
            <a:ext cx="4023360" cy="320040"/>
          </a:xfrm>
          <a:prstGeom prst="rect">
            <a:avLst/>
          </a:prstGeom>
          <a:noFill/>
        </p:spPr>
        <p:txBody>
          <a:bodyPr wrap="square" lIns="0" rIns="0" tIns="0" bIns="0" anchor="t">
            <a:spAutoFit/>
          </a:bodyPr>
          <a:lstStyle/>
          <a:p>
            <a:pPr algn="l"/>
            <a:r>
              <a:rPr sz="1500" b="1">
                <a:solidFill>
                  <a:srgbClr val="1F232B"/>
                </a:solidFill>
                <a:latin typeface="Malgun Gothic"/>
                <a:ea typeface="Malgun Gothic"/>
                <a:cs typeface="Malgun Gothic"/>
              </a:rPr>
              <a:t>교내 공지</a:t>
            </a:r>
          </a:p>
        </p:txBody>
      </p:sp>
      <p:sp>
        <p:nvSpPr>
          <p:cNvPr id="14" name="TextBox 13"/>
          <p:cNvSpPr txBox="1"/>
          <p:nvPr/>
        </p:nvSpPr>
        <p:spPr>
          <a:xfrm>
            <a:off x="1280160" y="3337560"/>
            <a:ext cx="4206240" cy="365760"/>
          </a:xfrm>
          <a:prstGeom prst="rect">
            <a:avLst/>
          </a:prstGeom>
          <a:noFill/>
        </p:spPr>
        <p:txBody>
          <a:bodyPr wrap="square" lIns="0" rIns="0" tIns="0" bIns="0" anchor="t">
            <a:spAutoFit/>
          </a:bodyPr>
          <a:lstStyle/>
          <a:p>
            <a:pPr algn="l"/>
            <a:r>
              <a:rPr sz="1100" b="0">
                <a:solidFill>
                  <a:srgbClr val="666E7A"/>
                </a:solidFill>
                <a:latin typeface="Malgun Gothic"/>
                <a:ea typeface="Malgun Gothic"/>
                <a:cs typeface="Malgun Gothic"/>
              </a:rPr>
              <a:t>'나에게' 탭 → 정리 카드 → 학교 원문 열기</a:t>
            </a:r>
          </a:p>
        </p:txBody>
      </p:sp>
      <p:sp>
        <p:nvSpPr>
          <p:cNvPr id="15" name="Oval 14"/>
          <p:cNvSpPr/>
          <p:nvPr/>
        </p:nvSpPr>
        <p:spPr>
          <a:xfrm>
            <a:off x="640080" y="3849624"/>
            <a:ext cx="457200" cy="457200"/>
          </a:xfrm>
          <a:prstGeom prst="ellipse">
            <a:avLst/>
          </a:prstGeom>
          <a:solidFill>
            <a:srgbClr val="005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849624"/>
            <a:ext cx="457200" cy="457200"/>
          </a:xfrm>
          <a:prstGeom prst="rect">
            <a:avLst/>
          </a:prstGeom>
          <a:noFill/>
        </p:spPr>
        <p:txBody>
          <a:bodyPr wrap="square" lIns="0" rIns="0" tIns="0" bIns="0" anchor="ctr">
            <a:spAutoFit/>
          </a:bodyPr>
          <a:lstStyle/>
          <a:p>
            <a:pPr algn="ctr"/>
            <a:r>
              <a:rPr sz="1400" b="1">
                <a:solidFill>
                  <a:srgbClr val="FFFFFF"/>
                </a:solidFill>
                <a:latin typeface="Malgun Gothic"/>
                <a:ea typeface="Malgun Gothic"/>
                <a:cs typeface="Malgun Gothic"/>
              </a:rPr>
              <a:t>4</a:t>
            </a:r>
          </a:p>
        </p:txBody>
      </p:sp>
      <p:sp>
        <p:nvSpPr>
          <p:cNvPr id="17" name="TextBox 16"/>
          <p:cNvSpPr txBox="1"/>
          <p:nvPr/>
        </p:nvSpPr>
        <p:spPr>
          <a:xfrm>
            <a:off x="1280160" y="3794759"/>
            <a:ext cx="4023360" cy="320040"/>
          </a:xfrm>
          <a:prstGeom prst="rect">
            <a:avLst/>
          </a:prstGeom>
          <a:noFill/>
        </p:spPr>
        <p:txBody>
          <a:bodyPr wrap="square" lIns="0" rIns="0" tIns="0" bIns="0" anchor="t">
            <a:spAutoFit/>
          </a:bodyPr>
          <a:lstStyle/>
          <a:p>
            <a:pPr algn="l"/>
            <a:r>
              <a:rPr sz="1500" b="1">
                <a:solidFill>
                  <a:srgbClr val="1F232B"/>
                </a:solidFill>
                <a:latin typeface="Malgun Gothic"/>
                <a:ea typeface="Malgun Gothic"/>
                <a:cs typeface="Malgun Gothic"/>
              </a:rPr>
              <a:t>교외 정보</a:t>
            </a:r>
          </a:p>
        </p:txBody>
      </p:sp>
      <p:sp>
        <p:nvSpPr>
          <p:cNvPr id="18" name="TextBox 17"/>
          <p:cNvSpPr txBox="1"/>
          <p:nvPr/>
        </p:nvSpPr>
        <p:spPr>
          <a:xfrm>
            <a:off x="1280160" y="4123944"/>
            <a:ext cx="4206240" cy="365760"/>
          </a:xfrm>
          <a:prstGeom prst="rect">
            <a:avLst/>
          </a:prstGeom>
          <a:noFill/>
        </p:spPr>
        <p:txBody>
          <a:bodyPr wrap="square" lIns="0" rIns="0" tIns="0" bIns="0" anchor="t">
            <a:spAutoFit/>
          </a:bodyPr>
          <a:lstStyle/>
          <a:p>
            <a:pPr algn="l"/>
            <a:r>
              <a:rPr sz="1100" b="0">
                <a:solidFill>
                  <a:srgbClr val="666E7A"/>
                </a:solidFill>
                <a:latin typeface="Malgun Gothic"/>
                <a:ea typeface="Malgun Gothic"/>
                <a:cs typeface="Malgun Gothic"/>
              </a:rPr>
              <a:t>장학·자격증: 접수 예정 / 접수중, 접수 시작순</a:t>
            </a:r>
          </a:p>
        </p:txBody>
      </p:sp>
      <p:sp>
        <p:nvSpPr>
          <p:cNvPr id="19" name="Oval 18"/>
          <p:cNvSpPr/>
          <p:nvPr/>
        </p:nvSpPr>
        <p:spPr>
          <a:xfrm>
            <a:off x="640080" y="4636008"/>
            <a:ext cx="457200" cy="457200"/>
          </a:xfrm>
          <a:prstGeom prst="ellipse">
            <a:avLst/>
          </a:prstGeom>
          <a:solidFill>
            <a:srgbClr val="005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636008"/>
            <a:ext cx="457200" cy="457200"/>
          </a:xfrm>
          <a:prstGeom prst="rect">
            <a:avLst/>
          </a:prstGeom>
          <a:noFill/>
        </p:spPr>
        <p:txBody>
          <a:bodyPr wrap="square" lIns="0" rIns="0" tIns="0" bIns="0" anchor="ctr">
            <a:spAutoFit/>
          </a:bodyPr>
          <a:lstStyle/>
          <a:p>
            <a:pPr algn="ctr"/>
            <a:r>
              <a:rPr sz="1400" b="1">
                <a:solidFill>
                  <a:srgbClr val="FFFFFF"/>
                </a:solidFill>
                <a:latin typeface="Malgun Gothic"/>
                <a:ea typeface="Malgun Gothic"/>
                <a:cs typeface="Malgun Gothic"/>
              </a:rPr>
              <a:t>5</a:t>
            </a:r>
          </a:p>
        </p:txBody>
      </p:sp>
      <p:sp>
        <p:nvSpPr>
          <p:cNvPr id="21" name="TextBox 20"/>
          <p:cNvSpPr txBox="1"/>
          <p:nvPr/>
        </p:nvSpPr>
        <p:spPr>
          <a:xfrm>
            <a:off x="1280160" y="4581144"/>
            <a:ext cx="4023360" cy="320040"/>
          </a:xfrm>
          <a:prstGeom prst="rect">
            <a:avLst/>
          </a:prstGeom>
          <a:noFill/>
        </p:spPr>
        <p:txBody>
          <a:bodyPr wrap="square" lIns="0" rIns="0" tIns="0" bIns="0" anchor="t">
            <a:spAutoFit/>
          </a:bodyPr>
          <a:lstStyle/>
          <a:p>
            <a:pPr algn="l"/>
            <a:r>
              <a:rPr sz="1500" b="1">
                <a:solidFill>
                  <a:srgbClr val="1F232B"/>
                </a:solidFill>
                <a:latin typeface="Malgun Gothic"/>
                <a:ea typeface="Malgun Gothic"/>
                <a:cs typeface="Malgun Gothic"/>
              </a:rPr>
              <a:t>캘린더</a:t>
            </a:r>
          </a:p>
        </p:txBody>
      </p:sp>
      <p:sp>
        <p:nvSpPr>
          <p:cNvPr id="22" name="TextBox 21"/>
          <p:cNvSpPr txBox="1"/>
          <p:nvPr/>
        </p:nvSpPr>
        <p:spPr>
          <a:xfrm>
            <a:off x="1280160" y="4910328"/>
            <a:ext cx="4206240" cy="365760"/>
          </a:xfrm>
          <a:prstGeom prst="rect">
            <a:avLst/>
          </a:prstGeom>
          <a:noFill/>
        </p:spPr>
        <p:txBody>
          <a:bodyPr wrap="square" lIns="0" rIns="0" tIns="0" bIns="0" anchor="t">
            <a:spAutoFit/>
          </a:bodyPr>
          <a:lstStyle/>
          <a:p>
            <a:pPr algn="l"/>
            <a:r>
              <a:rPr sz="1100" b="0">
                <a:solidFill>
                  <a:srgbClr val="666E7A"/>
                </a:solidFill>
                <a:latin typeface="Malgun Gothic"/>
                <a:ea typeface="Malgun Gothic"/>
                <a:cs typeface="Malgun Gothic"/>
              </a:rPr>
              <a:t>날짜를 누르면 그날 마감 · 지금 접수중 목록</a:t>
            </a:r>
          </a:p>
        </p:txBody>
      </p:sp>
      <p:sp>
        <p:nvSpPr>
          <p:cNvPr id="23" name="Rounded Rectangle 22"/>
          <p:cNvSpPr/>
          <p:nvPr/>
        </p:nvSpPr>
        <p:spPr>
          <a:xfrm>
            <a:off x="640080" y="5440680"/>
            <a:ext cx="4754880" cy="868680"/>
          </a:xfrm>
          <a:prstGeom prst="roundRect">
            <a:avLst>
              <a:gd name="adj" fmla="val 12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5440680"/>
            <a:ext cx="4389120" cy="868680"/>
          </a:xfrm>
          <a:prstGeom prst="rect">
            <a:avLst/>
          </a:prstGeom>
          <a:noFill/>
        </p:spPr>
        <p:txBody>
          <a:bodyPr wrap="square" lIns="0" rIns="0" tIns="0" bIns="0" anchor="ctr">
            <a:spAutoFit/>
          </a:bodyPr>
          <a:lstStyle/>
          <a:p>
            <a:pPr algn="l"/>
            <a:r>
              <a:rPr sz="1150" b="1">
                <a:solidFill>
                  <a:srgbClr val="1F232B"/>
                </a:solidFill>
                <a:latin typeface="Malgun Gothic"/>
                <a:ea typeface="Malgun Gothic"/>
                <a:cs typeface="Malgun Gothic"/>
              </a:rPr>
              <a:t>🎬 알림 녹화 영상</a:t>
            </a:r>
            <a:r>
              <a:rPr sz="1150" b="0">
                <a:solidFill>
                  <a:srgbClr val="1F232B"/>
                </a:solidFill>
                <a:latin typeface="Malgun Gothic"/>
                <a:ea typeface="Malgun Gothic"/>
                <a:cs typeface="Malgun Gothic"/>
              </a:rPr>
              <a:t> — 여기에 영상을 넣어 주세요</a:t>
            </a:r>
          </a:p>
          <a:p>
            <a:pPr algn="l"/>
            <a:r>
              <a:rPr sz="1150" b="0">
                <a:solidFill>
                  <a:srgbClr val="1F232B"/>
                </a:solidFill>
                <a:latin typeface="Malgun Gothic"/>
                <a:ea typeface="Malgun Gothic"/>
                <a:cs typeface="Malgun Gothic"/>
              </a:rPr>
              <a:t>나머지는 휴대폰으로 직접 시연</a:t>
            </a:r>
          </a:p>
        </p:txBody>
      </p:sp>
      <p:sp>
        <p:nvSpPr>
          <p:cNvPr id="25" name="Rounded Rectangle 24"/>
          <p:cNvSpPr/>
          <p:nvPr/>
        </p:nvSpPr>
        <p:spPr>
          <a:xfrm>
            <a:off x="5824728" y="1298448"/>
            <a:ext cx="2385717" cy="4992624"/>
          </a:xfrm>
          <a:prstGeom prst="roundRect">
            <a:avLst>
              <a:gd name="adj" fmla="val 8000"/>
            </a:avLst>
          </a:prstGeom>
          <a:solidFill>
            <a:srgbClr val="1111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3-detail-period.png"/>
          <p:cNvPicPr>
            <a:picLocks noChangeAspect="1"/>
          </p:cNvPicPr>
          <p:nvPr/>
        </p:nvPicPr>
        <p:blipFill>
          <a:blip r:embed="rId2"/>
          <a:stretch>
            <a:fillRect/>
          </a:stretch>
        </p:blipFill>
        <p:spPr>
          <a:xfrm>
            <a:off x="5897880" y="1371600"/>
            <a:ext cx="2239413" cy="4846320"/>
          </a:xfrm>
          <a:prstGeom prst="rect">
            <a:avLst/>
          </a:prstGeom>
        </p:spPr>
      </p:pic>
      <p:sp>
        <p:nvSpPr>
          <p:cNvPr id="27" name="Rounded Rectangle 26"/>
          <p:cNvSpPr/>
          <p:nvPr/>
        </p:nvSpPr>
        <p:spPr>
          <a:xfrm>
            <a:off x="8476488" y="1298448"/>
            <a:ext cx="2385717" cy="4992624"/>
          </a:xfrm>
          <a:prstGeom prst="roundRect">
            <a:avLst>
              <a:gd name="adj" fmla="val 8000"/>
            </a:avLst>
          </a:prstGeom>
          <a:solidFill>
            <a:srgbClr val="1111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2b-scholarship.png"/>
          <p:cNvPicPr>
            <a:picLocks noChangeAspect="1"/>
          </p:cNvPicPr>
          <p:nvPr/>
        </p:nvPicPr>
        <p:blipFill>
          <a:blip r:embed="rId3"/>
          <a:stretch>
            <a:fillRect/>
          </a:stretch>
        </p:blipFill>
        <p:spPr>
          <a:xfrm>
            <a:off x="8549640" y="1371600"/>
            <a:ext cx="2239413" cy="4846320"/>
          </a:xfrm>
          <a:prstGeom prst="rect">
            <a:avLst/>
          </a:prstGeom>
        </p:spPr>
      </p:pic>
      <p:sp>
        <p:nvSpPr>
          <p:cNvPr id="29" name="TextBox 28"/>
          <p:cNvSpPr txBox="1"/>
          <p:nvPr/>
        </p:nvSpPr>
        <p:spPr>
          <a:xfrm>
            <a:off x="5669280" y="6355080"/>
            <a:ext cx="2743200" cy="320040"/>
          </a:xfrm>
          <a:prstGeom prst="rect">
            <a:avLst/>
          </a:prstGeom>
          <a:noFill/>
        </p:spPr>
        <p:txBody>
          <a:bodyPr wrap="square" lIns="0" rIns="0" tIns="0" bIns="0" anchor="t">
            <a:spAutoFit/>
          </a:bodyPr>
          <a:lstStyle/>
          <a:p>
            <a:pPr algn="ctr"/>
            <a:r>
              <a:rPr sz="1050" b="0">
                <a:solidFill>
                  <a:srgbClr val="666E7A"/>
                </a:solidFill>
                <a:latin typeface="Malgun Gothic"/>
                <a:ea typeface="Malgun Gothic"/>
                <a:cs typeface="Malgun Gothic"/>
              </a:rPr>
              <a:t>시험: 접수 전 · 신청 기간</a:t>
            </a:r>
          </a:p>
        </p:txBody>
      </p:sp>
      <p:sp>
        <p:nvSpPr>
          <p:cNvPr id="30" name="TextBox 29"/>
          <p:cNvSpPr txBox="1"/>
          <p:nvPr/>
        </p:nvSpPr>
        <p:spPr>
          <a:xfrm>
            <a:off x="8321040" y="6355080"/>
            <a:ext cx="2743200" cy="320040"/>
          </a:xfrm>
          <a:prstGeom prst="rect">
            <a:avLst/>
          </a:prstGeom>
          <a:noFill/>
        </p:spPr>
        <p:txBody>
          <a:bodyPr wrap="square" lIns="0" rIns="0" tIns="0" bIns="0" anchor="t">
            <a:spAutoFit/>
          </a:bodyPr>
          <a:lstStyle/>
          <a:p>
            <a:pPr algn="ctr"/>
            <a:r>
              <a:rPr sz="1050" b="0">
                <a:solidFill>
                  <a:srgbClr val="666E7A"/>
                </a:solidFill>
                <a:latin typeface="Malgun Gothic"/>
                <a:ea typeface="Malgun Gothic"/>
                <a:cs typeface="Malgun Gothic"/>
              </a:rPr>
              <a:t>교외 장학금 · 접수중 D-1</a:t>
            </a:r>
          </a:p>
        </p:txBody>
      </p:sp>
      <p:sp>
        <p:nvSpPr>
          <p:cNvPr id="31" name="Rounded Rectangle 30">
            <a:hlinkClick r:id="rId4"/>
          </p:cNvPr>
          <p:cNvSpPr/>
          <p:nvPr/>
        </p:nvSpPr>
        <p:spPr>
          <a:xfrm>
            <a:off x="10881360" y="1371600"/>
            <a:ext cx="1097280" cy="457200"/>
          </a:xfrm>
          <a:prstGeom prst="roundRect">
            <a:avLst>
              <a:gd name="adj" fmla="val 50000"/>
            </a:avLst>
          </a:prstGeom>
          <a:solidFill>
            <a:srgbClr val="1E9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881360" y="1371600"/>
            <a:ext cx="1097280" cy="457200"/>
          </a:xfrm>
          <a:prstGeom prst="rect">
            <a:avLst/>
          </a:prstGeom>
          <a:noFill/>
        </p:spPr>
        <p:txBody>
          <a:bodyPr wrap="square" lIns="0" rIns="0" tIns="0" bIns="0" anchor="ctr">
            <a:spAutoFit/>
          </a:bodyPr>
          <a:lstStyle/>
          <a:p>
            <a:pPr algn="ctr"/>
            <a:r>
              <a:rPr sz="1200" b="1">
                <a:solidFill>
                  <a:srgbClr val="FFFFFF"/>
                </a:solidFill>
                <a:latin typeface="Malgun Gothic"/>
                <a:ea typeface="Malgun Gothic"/>
                <a:cs typeface="Malgun Gothic"/>
              </a:rPr>
              <a:t>▶ 열기</a:t>
            </a:r>
          </a:p>
        </p:txBody>
      </p:sp>
      <p:sp>
        <p:nvSpPr>
          <p:cNvPr id="33" name="TextBox 32"/>
          <p:cNvSpPr txBox="1"/>
          <p:nvPr/>
        </p:nvSpPr>
        <p:spPr>
          <a:xfrm>
            <a:off x="11247120" y="6400800"/>
            <a:ext cx="457200" cy="274320"/>
          </a:xfrm>
          <a:prstGeom prst="rect">
            <a:avLst/>
          </a:prstGeom>
          <a:noFill/>
        </p:spPr>
        <p:txBody>
          <a:bodyPr wrap="square" lIns="0" rIns="0" tIns="0" bIns="0" anchor="t">
            <a:spAutoFit/>
          </a:bodyPr>
          <a:lstStyle/>
          <a:p>
            <a:pPr algn="r"/>
            <a:r>
              <a:rPr sz="1000" b="0">
                <a:solidFill>
                  <a:srgbClr val="666E7A"/>
                </a:solidFill>
                <a:latin typeface="Malgun Gothic"/>
                <a:ea typeface="Malgun Gothic"/>
                <a:cs typeface="Malgun Gothic"/>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594360" y="457200"/>
            <a:ext cx="10972800" cy="731520"/>
          </a:xfrm>
          <a:prstGeom prst="rect">
            <a:avLst/>
          </a:prstGeom>
          <a:noFill/>
        </p:spPr>
        <p:txBody>
          <a:bodyPr wrap="square" lIns="0" rIns="0" tIns="0" bIns="0" anchor="t">
            <a:spAutoFit/>
          </a:bodyPr>
          <a:lstStyle/>
          <a:p>
            <a:pPr algn="l"/>
            <a:r>
              <a:rPr sz="3000" b="1">
                <a:solidFill>
                  <a:srgbClr val="1F232B"/>
                </a:solidFill>
                <a:latin typeface="Malgun Gothic"/>
                <a:ea typeface="Malgun Gothic"/>
                <a:cs typeface="Malgun Gothic"/>
              </a:rPr>
              <a:t>기대 효과와 앞으로</a:t>
            </a:r>
          </a:p>
        </p:txBody>
      </p:sp>
      <p:sp>
        <p:nvSpPr>
          <p:cNvPr id="3" name="TextBox 2"/>
          <p:cNvSpPr txBox="1"/>
          <p:nvPr/>
        </p:nvSpPr>
        <p:spPr>
          <a:xfrm>
            <a:off x="594360" y="1234440"/>
            <a:ext cx="4937760" cy="365760"/>
          </a:xfrm>
          <a:prstGeom prst="rect">
            <a:avLst/>
          </a:prstGeom>
          <a:noFill/>
        </p:spPr>
        <p:txBody>
          <a:bodyPr wrap="square" lIns="0" rIns="0" tIns="0" bIns="0" anchor="t">
            <a:spAutoFit/>
          </a:bodyPr>
          <a:lstStyle/>
          <a:p>
            <a:pPr algn="l"/>
            <a:r>
              <a:rPr sz="1800" b="1">
                <a:solidFill>
                  <a:srgbClr val="0058B2"/>
                </a:solidFill>
                <a:latin typeface="Malgun Gothic"/>
                <a:ea typeface="Malgun Gothic"/>
                <a:cs typeface="Malgun Gothic"/>
              </a:rPr>
              <a:t>기대 효과</a:t>
            </a:r>
          </a:p>
        </p:txBody>
      </p:sp>
      <p:sp>
        <p:nvSpPr>
          <p:cNvPr id="4" name="Rounded Rectangle 3"/>
          <p:cNvSpPr/>
          <p:nvPr/>
        </p:nvSpPr>
        <p:spPr>
          <a:xfrm>
            <a:off x="594360" y="1737360"/>
            <a:ext cx="4937760" cy="914400"/>
          </a:xfrm>
          <a:prstGeom prst="roundRect">
            <a:avLst>
              <a:gd name="adj" fmla="val 10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47088"/>
            <a:ext cx="4480560" cy="365760"/>
          </a:xfrm>
          <a:prstGeom prst="rect">
            <a:avLst/>
          </a:prstGeom>
          <a:noFill/>
        </p:spPr>
        <p:txBody>
          <a:bodyPr wrap="square" lIns="0" rIns="0" tIns="0" bIns="0" anchor="t">
            <a:spAutoFit/>
          </a:bodyPr>
          <a:lstStyle/>
          <a:p>
            <a:pPr algn="l"/>
            <a:r>
              <a:rPr sz="1500" b="1">
                <a:solidFill>
                  <a:srgbClr val="1F232B"/>
                </a:solidFill>
                <a:latin typeface="Malgun Gothic"/>
                <a:ea typeface="Malgun Gothic"/>
                <a:cs typeface="Malgun Gothic"/>
              </a:rPr>
              <a:t>확인 시간 단축</a:t>
            </a:r>
          </a:p>
        </p:txBody>
      </p:sp>
      <p:sp>
        <p:nvSpPr>
          <p:cNvPr id="6" name="TextBox 5"/>
          <p:cNvSpPr txBox="1"/>
          <p:nvPr/>
        </p:nvSpPr>
        <p:spPr>
          <a:xfrm>
            <a:off x="868680" y="2212848"/>
            <a:ext cx="4480560" cy="365760"/>
          </a:xfrm>
          <a:prstGeom prst="rect">
            <a:avLst/>
          </a:prstGeom>
          <a:noFill/>
        </p:spPr>
        <p:txBody>
          <a:bodyPr wrap="square" lIns="0" rIns="0" tIns="0" bIns="0" anchor="t">
            <a:spAutoFit/>
          </a:bodyPr>
          <a:lstStyle/>
          <a:p>
            <a:pPr algn="l"/>
            <a:r>
              <a:rPr sz="1100" b="0">
                <a:solidFill>
                  <a:srgbClr val="666E7A"/>
                </a:solidFill>
                <a:latin typeface="Malgun Gothic"/>
                <a:ea typeface="Malgun Gothic"/>
                <a:cs typeface="Malgun Gothic"/>
              </a:rPr>
              <a:t>게시판 112곳 + 교외 4곳을 도는 대신 앱 한 곳</a:t>
            </a:r>
          </a:p>
        </p:txBody>
      </p:sp>
      <p:sp>
        <p:nvSpPr>
          <p:cNvPr id="7" name="Rounded Rectangle 6"/>
          <p:cNvSpPr/>
          <p:nvPr/>
        </p:nvSpPr>
        <p:spPr>
          <a:xfrm>
            <a:off x="594360" y="2816352"/>
            <a:ext cx="4937760" cy="914400"/>
          </a:xfrm>
          <a:prstGeom prst="roundRect">
            <a:avLst>
              <a:gd name="adj" fmla="val 10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926080"/>
            <a:ext cx="4480560" cy="365760"/>
          </a:xfrm>
          <a:prstGeom prst="rect">
            <a:avLst/>
          </a:prstGeom>
          <a:noFill/>
        </p:spPr>
        <p:txBody>
          <a:bodyPr wrap="square" lIns="0" rIns="0" tIns="0" bIns="0" anchor="t">
            <a:spAutoFit/>
          </a:bodyPr>
          <a:lstStyle/>
          <a:p>
            <a:pPr algn="l"/>
            <a:r>
              <a:rPr sz="1500" b="1">
                <a:solidFill>
                  <a:srgbClr val="1F232B"/>
                </a:solidFill>
                <a:latin typeface="Malgun Gothic"/>
                <a:ea typeface="Malgun Gothic"/>
                <a:cs typeface="Malgun Gothic"/>
              </a:rPr>
              <a:t>마감 놓침 감소</a:t>
            </a:r>
          </a:p>
        </p:txBody>
      </p:sp>
      <p:sp>
        <p:nvSpPr>
          <p:cNvPr id="9" name="TextBox 8"/>
          <p:cNvSpPr txBox="1"/>
          <p:nvPr/>
        </p:nvSpPr>
        <p:spPr>
          <a:xfrm>
            <a:off x="868680" y="3291840"/>
            <a:ext cx="4480560" cy="365760"/>
          </a:xfrm>
          <a:prstGeom prst="rect">
            <a:avLst/>
          </a:prstGeom>
          <a:noFill/>
        </p:spPr>
        <p:txBody>
          <a:bodyPr wrap="square" lIns="0" rIns="0" tIns="0" bIns="0" anchor="t">
            <a:spAutoFit/>
          </a:bodyPr>
          <a:lstStyle/>
          <a:p>
            <a:pPr algn="l"/>
            <a:r>
              <a:rPr sz="1100" b="0">
                <a:solidFill>
                  <a:srgbClr val="666E7A"/>
                </a:solidFill>
                <a:latin typeface="Malgun Gothic"/>
                <a:ea typeface="Malgun Gothic"/>
                <a:cs typeface="Malgun Gothic"/>
              </a:rPr>
              <a:t>마감 7·3·1일 전 · 접수 시작 알림, 밤에는 모아서 아침에</a:t>
            </a:r>
          </a:p>
        </p:txBody>
      </p:sp>
      <p:sp>
        <p:nvSpPr>
          <p:cNvPr id="10" name="Rounded Rectangle 9"/>
          <p:cNvSpPr/>
          <p:nvPr/>
        </p:nvSpPr>
        <p:spPr>
          <a:xfrm>
            <a:off x="594360" y="3895344"/>
            <a:ext cx="4937760" cy="914400"/>
          </a:xfrm>
          <a:prstGeom prst="roundRect">
            <a:avLst>
              <a:gd name="adj" fmla="val 10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005072"/>
            <a:ext cx="4480560" cy="365760"/>
          </a:xfrm>
          <a:prstGeom prst="rect">
            <a:avLst/>
          </a:prstGeom>
          <a:noFill/>
        </p:spPr>
        <p:txBody>
          <a:bodyPr wrap="square" lIns="0" rIns="0" tIns="0" bIns="0" anchor="t">
            <a:spAutoFit/>
          </a:bodyPr>
          <a:lstStyle/>
          <a:p>
            <a:pPr algn="l"/>
            <a:r>
              <a:rPr sz="1500" b="1">
                <a:solidFill>
                  <a:srgbClr val="1F232B"/>
                </a:solidFill>
                <a:latin typeface="Malgun Gothic"/>
                <a:ea typeface="Malgun Gothic"/>
                <a:cs typeface="Malgun Gothic"/>
              </a:rPr>
              <a:t>기회 발견</a:t>
            </a:r>
          </a:p>
        </p:txBody>
      </p:sp>
      <p:sp>
        <p:nvSpPr>
          <p:cNvPr id="12" name="TextBox 11"/>
          <p:cNvSpPr txBox="1"/>
          <p:nvPr/>
        </p:nvSpPr>
        <p:spPr>
          <a:xfrm>
            <a:off x="868680" y="4370831"/>
            <a:ext cx="4480560" cy="365760"/>
          </a:xfrm>
          <a:prstGeom prst="rect">
            <a:avLst/>
          </a:prstGeom>
          <a:noFill/>
        </p:spPr>
        <p:txBody>
          <a:bodyPr wrap="square" lIns="0" rIns="0" tIns="0" bIns="0" anchor="t">
            <a:spAutoFit/>
          </a:bodyPr>
          <a:lstStyle/>
          <a:p>
            <a:pPr algn="l"/>
            <a:r>
              <a:rPr sz="1100" b="0">
                <a:solidFill>
                  <a:srgbClr val="666E7A"/>
                </a:solidFill>
                <a:latin typeface="Malgun Gothic"/>
                <a:ea typeface="Malgun Gothic"/>
                <a:cs typeface="Malgun Gothic"/>
              </a:rPr>
              <a:t>교내만 보던 학생도 교외 장학·자격증·공모전까지</a:t>
            </a:r>
          </a:p>
        </p:txBody>
      </p:sp>
      <p:sp>
        <p:nvSpPr>
          <p:cNvPr id="13" name="Rounded Rectangle 12"/>
          <p:cNvSpPr/>
          <p:nvPr/>
        </p:nvSpPr>
        <p:spPr>
          <a:xfrm>
            <a:off x="594360" y="4974336"/>
            <a:ext cx="4937760" cy="914400"/>
          </a:xfrm>
          <a:prstGeom prst="roundRect">
            <a:avLst>
              <a:gd name="adj" fmla="val 10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5084064"/>
            <a:ext cx="4480560" cy="365760"/>
          </a:xfrm>
          <a:prstGeom prst="rect">
            <a:avLst/>
          </a:prstGeom>
          <a:noFill/>
        </p:spPr>
        <p:txBody>
          <a:bodyPr wrap="square" lIns="0" rIns="0" tIns="0" bIns="0" anchor="t">
            <a:spAutoFit/>
          </a:bodyPr>
          <a:lstStyle/>
          <a:p>
            <a:pPr algn="l"/>
            <a:r>
              <a:rPr sz="1500" b="1">
                <a:solidFill>
                  <a:srgbClr val="1F232B"/>
                </a:solidFill>
                <a:latin typeface="Malgun Gothic"/>
                <a:ea typeface="Malgun Gothic"/>
                <a:cs typeface="Malgun Gothic"/>
              </a:rPr>
              <a:t>정보 격차 완화</a:t>
            </a:r>
          </a:p>
        </p:txBody>
      </p:sp>
      <p:sp>
        <p:nvSpPr>
          <p:cNvPr id="15" name="TextBox 14"/>
          <p:cNvSpPr txBox="1"/>
          <p:nvPr/>
        </p:nvSpPr>
        <p:spPr>
          <a:xfrm>
            <a:off x="868680" y="5449823"/>
            <a:ext cx="4480560" cy="365760"/>
          </a:xfrm>
          <a:prstGeom prst="rect">
            <a:avLst/>
          </a:prstGeom>
          <a:noFill/>
        </p:spPr>
        <p:txBody>
          <a:bodyPr wrap="square" lIns="0" rIns="0" tIns="0" bIns="0" anchor="t">
            <a:spAutoFit/>
          </a:bodyPr>
          <a:lstStyle/>
          <a:p>
            <a:pPr algn="l"/>
            <a:r>
              <a:rPr sz="1100" b="0">
                <a:solidFill>
                  <a:srgbClr val="666E7A"/>
                </a:solidFill>
                <a:latin typeface="Malgun Gothic"/>
                <a:ea typeface="Malgun Gothic"/>
                <a:cs typeface="Malgun Gothic"/>
              </a:rPr>
              <a:t>선배·단톡방 없이도 신입생이 같은 정보를</a:t>
            </a:r>
          </a:p>
        </p:txBody>
      </p:sp>
      <p:sp>
        <p:nvSpPr>
          <p:cNvPr id="16" name="TextBox 15"/>
          <p:cNvSpPr txBox="1"/>
          <p:nvPr/>
        </p:nvSpPr>
        <p:spPr>
          <a:xfrm>
            <a:off x="5989320" y="1234440"/>
            <a:ext cx="5669280" cy="365760"/>
          </a:xfrm>
          <a:prstGeom prst="rect">
            <a:avLst/>
          </a:prstGeom>
          <a:noFill/>
        </p:spPr>
        <p:txBody>
          <a:bodyPr wrap="square" lIns="0" rIns="0" tIns="0" bIns="0" anchor="t">
            <a:spAutoFit/>
          </a:bodyPr>
          <a:lstStyle/>
          <a:p>
            <a:pPr algn="l"/>
            <a:r>
              <a:rPr sz="1800" b="1">
                <a:solidFill>
                  <a:srgbClr val="1E9E6A"/>
                </a:solidFill>
                <a:latin typeface="Malgun Gothic"/>
                <a:ea typeface="Malgun Gothic"/>
                <a:cs typeface="Malgun Gothic"/>
              </a:rPr>
              <a:t>확장 계획</a:t>
            </a:r>
          </a:p>
        </p:txBody>
      </p:sp>
      <p:sp>
        <p:nvSpPr>
          <p:cNvPr id="17" name="Rounded Rectangle 16"/>
          <p:cNvSpPr/>
          <p:nvPr/>
        </p:nvSpPr>
        <p:spPr>
          <a:xfrm>
            <a:off x="5989320" y="1737360"/>
            <a:ext cx="5623560" cy="914400"/>
          </a:xfrm>
          <a:prstGeom prst="roundRect">
            <a:avLst>
              <a:gd name="adj" fmla="val 10000"/>
            </a:avLst>
          </a:prstGeom>
          <a:solidFill>
            <a:srgbClr val="E6F6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828800"/>
            <a:ext cx="5212080" cy="347472"/>
          </a:xfrm>
          <a:prstGeom prst="rect">
            <a:avLst/>
          </a:prstGeom>
          <a:noFill/>
        </p:spPr>
        <p:txBody>
          <a:bodyPr wrap="square" lIns="0" rIns="0" tIns="0" bIns="0" anchor="t">
            <a:spAutoFit/>
          </a:bodyPr>
          <a:lstStyle/>
          <a:p>
            <a:pPr algn="l"/>
            <a:r>
              <a:rPr sz="1450" b="1">
                <a:solidFill>
                  <a:srgbClr val="1F232B"/>
                </a:solidFill>
                <a:latin typeface="Malgun Gothic"/>
                <a:ea typeface="Malgun Gothic"/>
                <a:cs typeface="Malgun Gothic"/>
              </a:rPr>
              <a:t>대화로 설정하는 LLM</a:t>
            </a:r>
          </a:p>
        </p:txBody>
      </p:sp>
      <p:sp>
        <p:nvSpPr>
          <p:cNvPr id="19" name="TextBox 18"/>
          <p:cNvSpPr txBox="1"/>
          <p:nvPr/>
        </p:nvSpPr>
        <p:spPr>
          <a:xfrm>
            <a:off x="6263640" y="2167128"/>
            <a:ext cx="5212080" cy="457200"/>
          </a:xfrm>
          <a:prstGeom prst="rect">
            <a:avLst/>
          </a:prstGeom>
          <a:noFill/>
        </p:spPr>
        <p:txBody>
          <a:bodyPr wrap="square" lIns="0" rIns="0" tIns="0" bIns="0" anchor="t">
            <a:spAutoFit/>
          </a:bodyPr>
          <a:lstStyle/>
          <a:p>
            <a:pPr algn="l"/>
            <a:r>
              <a:rPr sz="1050" b="0">
                <a:solidFill>
                  <a:srgbClr val="666E7A"/>
                </a:solidFill>
                <a:latin typeface="Malgun Gothic"/>
                <a:ea typeface="Malgun Gothic"/>
                <a:cs typeface="Malgun Gothic"/>
              </a:rPr>
              <a:t>지금은 선택식. 무료 서버(2코어·12GB)라 대형 LLM은 못 올렸지만, LLM을 붙이면 "장학금 중 성적 기준 없는 것만"처럼 대화로 규칙을 만들 수 있음</a:t>
            </a:r>
          </a:p>
        </p:txBody>
      </p:sp>
      <p:sp>
        <p:nvSpPr>
          <p:cNvPr id="20" name="Rounded Rectangle 19"/>
          <p:cNvSpPr/>
          <p:nvPr/>
        </p:nvSpPr>
        <p:spPr>
          <a:xfrm>
            <a:off x="5989320" y="2816352"/>
            <a:ext cx="5623560" cy="914400"/>
          </a:xfrm>
          <a:prstGeom prst="roundRect">
            <a:avLst>
              <a:gd name="adj" fmla="val 10000"/>
            </a:avLst>
          </a:prstGeom>
          <a:solidFill>
            <a:srgbClr val="E6F6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2907792"/>
            <a:ext cx="5212080" cy="347472"/>
          </a:xfrm>
          <a:prstGeom prst="rect">
            <a:avLst/>
          </a:prstGeom>
          <a:noFill/>
        </p:spPr>
        <p:txBody>
          <a:bodyPr wrap="square" lIns="0" rIns="0" tIns="0" bIns="0" anchor="t">
            <a:spAutoFit/>
          </a:bodyPr>
          <a:lstStyle/>
          <a:p>
            <a:pPr algn="l"/>
            <a:r>
              <a:rPr sz="1450" b="1">
                <a:solidFill>
                  <a:srgbClr val="1F232B"/>
                </a:solidFill>
                <a:latin typeface="Malgun Gothic"/>
                <a:ea typeface="Malgun Gothic"/>
                <a:cs typeface="Malgun Gothic"/>
              </a:rPr>
              <a:t>첨부 속 표·이미지까지</a:t>
            </a:r>
          </a:p>
        </p:txBody>
      </p:sp>
      <p:sp>
        <p:nvSpPr>
          <p:cNvPr id="22" name="TextBox 21"/>
          <p:cNvSpPr txBox="1"/>
          <p:nvPr/>
        </p:nvSpPr>
        <p:spPr>
          <a:xfrm>
            <a:off x="6263640" y="3246120"/>
            <a:ext cx="5212080" cy="457200"/>
          </a:xfrm>
          <a:prstGeom prst="rect">
            <a:avLst/>
          </a:prstGeom>
          <a:noFill/>
        </p:spPr>
        <p:txBody>
          <a:bodyPr wrap="square" lIns="0" rIns="0" tIns="0" bIns="0" anchor="t">
            <a:spAutoFit/>
          </a:bodyPr>
          <a:lstStyle/>
          <a:p>
            <a:pPr algn="l"/>
            <a:r>
              <a:rPr sz="1050" b="0">
                <a:solidFill>
                  <a:srgbClr val="666E7A"/>
                </a:solidFill>
                <a:latin typeface="Malgun Gothic"/>
                <a:ea typeface="Malgun Gothic"/>
                <a:cs typeface="Malgun Gothic"/>
              </a:rPr>
              <a:t>HWP·PDF 글자는 이미 읽음. 다음은 표 안의 날짜, 스캔 포스터 이미지(OCR)</a:t>
            </a:r>
          </a:p>
        </p:txBody>
      </p:sp>
      <p:sp>
        <p:nvSpPr>
          <p:cNvPr id="23" name="Rounded Rectangle 22"/>
          <p:cNvSpPr/>
          <p:nvPr/>
        </p:nvSpPr>
        <p:spPr>
          <a:xfrm>
            <a:off x="5989320" y="3895344"/>
            <a:ext cx="5623560" cy="914400"/>
          </a:xfrm>
          <a:prstGeom prst="roundRect">
            <a:avLst>
              <a:gd name="adj" fmla="val 10000"/>
            </a:avLst>
          </a:prstGeom>
          <a:solidFill>
            <a:srgbClr val="E6F6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63640" y="3986783"/>
            <a:ext cx="5212080" cy="347472"/>
          </a:xfrm>
          <a:prstGeom prst="rect">
            <a:avLst/>
          </a:prstGeom>
          <a:noFill/>
        </p:spPr>
        <p:txBody>
          <a:bodyPr wrap="square" lIns="0" rIns="0" tIns="0" bIns="0" anchor="t">
            <a:spAutoFit/>
          </a:bodyPr>
          <a:lstStyle/>
          <a:p>
            <a:pPr algn="l"/>
            <a:r>
              <a:rPr sz="1450" b="1">
                <a:solidFill>
                  <a:srgbClr val="1F232B"/>
                </a:solidFill>
                <a:latin typeface="Malgun Gothic"/>
                <a:ea typeface="Malgun Gothic"/>
                <a:cs typeface="Malgun Gothic"/>
              </a:rPr>
              <a:t>하루 체크리스트</a:t>
            </a:r>
          </a:p>
        </p:txBody>
      </p:sp>
      <p:sp>
        <p:nvSpPr>
          <p:cNvPr id="25" name="TextBox 24"/>
          <p:cNvSpPr txBox="1"/>
          <p:nvPr/>
        </p:nvSpPr>
        <p:spPr>
          <a:xfrm>
            <a:off x="6263640" y="4325112"/>
            <a:ext cx="5212080" cy="457200"/>
          </a:xfrm>
          <a:prstGeom prst="rect">
            <a:avLst/>
          </a:prstGeom>
          <a:noFill/>
        </p:spPr>
        <p:txBody>
          <a:bodyPr wrap="square" lIns="0" rIns="0" tIns="0" bIns="0" anchor="t">
            <a:spAutoFit/>
          </a:bodyPr>
          <a:lstStyle/>
          <a:p>
            <a:pPr algn="l"/>
            <a:r>
              <a:rPr sz="1050" b="0">
                <a:solidFill>
                  <a:srgbClr val="666E7A"/>
                </a:solidFill>
                <a:latin typeface="Malgun Gothic"/>
                <a:ea typeface="Malgun Gothic"/>
                <a:cs typeface="Malgun Gothic"/>
              </a:rPr>
              <a:t>시간표·전자출결과 연결해 공강 시간에 할 일 추천 (학교 협조 필요)</a:t>
            </a:r>
          </a:p>
        </p:txBody>
      </p:sp>
      <p:sp>
        <p:nvSpPr>
          <p:cNvPr id="26" name="Rounded Rectangle 25"/>
          <p:cNvSpPr/>
          <p:nvPr/>
        </p:nvSpPr>
        <p:spPr>
          <a:xfrm>
            <a:off x="5989320" y="4974336"/>
            <a:ext cx="5623560" cy="914400"/>
          </a:xfrm>
          <a:prstGeom prst="roundRect">
            <a:avLst>
              <a:gd name="adj" fmla="val 10000"/>
            </a:avLst>
          </a:prstGeom>
          <a:solidFill>
            <a:srgbClr val="E6F6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63640" y="5065775"/>
            <a:ext cx="5212080" cy="347472"/>
          </a:xfrm>
          <a:prstGeom prst="rect">
            <a:avLst/>
          </a:prstGeom>
          <a:noFill/>
        </p:spPr>
        <p:txBody>
          <a:bodyPr wrap="square" lIns="0" rIns="0" tIns="0" bIns="0" anchor="t">
            <a:spAutoFit/>
          </a:bodyPr>
          <a:lstStyle/>
          <a:p>
            <a:pPr algn="l"/>
            <a:r>
              <a:rPr sz="1450" b="1">
                <a:solidFill>
                  <a:srgbClr val="1F232B"/>
                </a:solidFill>
                <a:latin typeface="Malgun Gothic"/>
                <a:ea typeface="Malgun Gothic"/>
                <a:cs typeface="Malgun Gothic"/>
              </a:rPr>
              <a:t>어학 시험·다른 대학</a:t>
            </a:r>
          </a:p>
        </p:txBody>
      </p:sp>
      <p:sp>
        <p:nvSpPr>
          <p:cNvPr id="28" name="TextBox 27"/>
          <p:cNvSpPr txBox="1"/>
          <p:nvPr/>
        </p:nvSpPr>
        <p:spPr>
          <a:xfrm>
            <a:off x="6263640" y="5404103"/>
            <a:ext cx="5212080" cy="457200"/>
          </a:xfrm>
          <a:prstGeom prst="rect">
            <a:avLst/>
          </a:prstGeom>
          <a:noFill/>
        </p:spPr>
        <p:txBody>
          <a:bodyPr wrap="square" lIns="0" rIns="0" tIns="0" bIns="0" anchor="t">
            <a:spAutoFit/>
          </a:bodyPr>
          <a:lstStyle/>
          <a:p>
            <a:pPr algn="l"/>
            <a:r>
              <a:rPr sz="1050" b="0">
                <a:solidFill>
                  <a:srgbClr val="666E7A"/>
                </a:solidFill>
                <a:latin typeface="Malgun Gothic"/>
                <a:ea typeface="Malgun Gothic"/>
                <a:cs typeface="Malgun Gothic"/>
              </a:rPr>
              <a:t>토익 등은 공식 API가 없어 '직접 입력 일정'으로 대응 · 게시판 목록만 바꾸면 다른 대학에도</a:t>
            </a:r>
          </a:p>
        </p:txBody>
      </p:sp>
      <p:sp>
        <p:nvSpPr>
          <p:cNvPr id="29" name="TextBox 28"/>
          <p:cNvSpPr txBox="1"/>
          <p:nvPr/>
        </p:nvSpPr>
        <p:spPr>
          <a:xfrm>
            <a:off x="594360" y="6144768"/>
            <a:ext cx="10972800" cy="365760"/>
          </a:xfrm>
          <a:prstGeom prst="rect">
            <a:avLst/>
          </a:prstGeom>
          <a:noFill/>
        </p:spPr>
        <p:txBody>
          <a:bodyPr wrap="square" lIns="0" rIns="0" tIns="0" bIns="0" anchor="t">
            <a:spAutoFit/>
          </a:bodyPr>
          <a:lstStyle/>
          <a:p>
            <a:pPr algn="ctr"/>
            <a:r>
              <a:rPr sz="1250" b="1">
                <a:solidFill>
                  <a:srgbClr val="1F232B"/>
                </a:solidFill>
                <a:latin typeface="Malgun Gothic"/>
                <a:ea typeface="Malgun Gothic"/>
                <a:cs typeface="Malgun Gothic"/>
              </a:rPr>
              <a:t>비즈니스 모델: </a:t>
            </a:r>
            <a:r>
              <a:rPr sz="1250" b="0">
                <a:solidFill>
                  <a:srgbClr val="666E7A"/>
                </a:solidFill>
                <a:latin typeface="Malgun Gothic"/>
                <a:ea typeface="Malgun Gothic"/>
                <a:cs typeface="Malgun Gothic"/>
              </a:rPr>
              <a:t>운영비 0원 구조(무료 서버·무료 AI 모델) → 학생 무료 · 대학/학과 단위 공식 알리미로 도입</a:t>
            </a:r>
          </a:p>
        </p:txBody>
      </p:sp>
      <p:sp>
        <p:nvSpPr>
          <p:cNvPr id="30" name="TextBox 29"/>
          <p:cNvSpPr txBox="1"/>
          <p:nvPr/>
        </p:nvSpPr>
        <p:spPr>
          <a:xfrm>
            <a:off x="11247120" y="6400800"/>
            <a:ext cx="457200" cy="274320"/>
          </a:xfrm>
          <a:prstGeom prst="rect">
            <a:avLst/>
          </a:prstGeom>
          <a:noFill/>
        </p:spPr>
        <p:txBody>
          <a:bodyPr wrap="square" lIns="0" rIns="0" tIns="0" bIns="0" anchor="t">
            <a:spAutoFit/>
          </a:bodyPr>
          <a:lstStyle/>
          <a:p>
            <a:pPr algn="r"/>
            <a:r>
              <a:rPr sz="1000" b="0">
                <a:solidFill>
                  <a:srgbClr val="666E7A"/>
                </a:solidFill>
                <a:latin typeface="Malgun Gothic"/>
                <a:ea typeface="Malgun Gothic"/>
                <a:cs typeface="Malgun Gothic"/>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2545"/>
        </a:solidFill>
        <a:effectLst/>
      </p:bgPr>
    </p:bg>
    <p:spTree>
      <p:nvGrpSpPr>
        <p:cNvPr id="1" name=""/>
        <p:cNvGrpSpPr/>
        <p:nvPr/>
      </p:nvGrpSpPr>
      <p:grpSpPr/>
      <p:sp>
        <p:nvSpPr>
          <p:cNvPr id="2" name="TextBox 1"/>
          <p:cNvSpPr txBox="1"/>
          <p:nvPr/>
        </p:nvSpPr>
        <p:spPr>
          <a:xfrm>
            <a:off x="731520" y="822960"/>
            <a:ext cx="5486400" cy="365760"/>
          </a:xfrm>
          <a:prstGeom prst="rect">
            <a:avLst/>
          </a:prstGeom>
          <a:noFill/>
        </p:spPr>
        <p:txBody>
          <a:bodyPr wrap="square" lIns="0" rIns="0" tIns="0" bIns="0" anchor="t">
            <a:spAutoFit/>
          </a:bodyPr>
          <a:lstStyle/>
          <a:p>
            <a:pPr algn="l"/>
            <a:r>
              <a:rPr sz="1600" b="1">
                <a:solidFill>
                  <a:srgbClr val="A9CBF2"/>
                </a:solidFill>
                <a:latin typeface="Malgun Gothic"/>
                <a:ea typeface="Malgun Gothic"/>
                <a:cs typeface="Malgun Gothic"/>
              </a:rPr>
              <a:t>감사합니다</a:t>
            </a:r>
          </a:p>
        </p:txBody>
      </p:sp>
      <p:sp>
        <p:nvSpPr>
          <p:cNvPr id="3" name="TextBox 2"/>
          <p:cNvSpPr txBox="1"/>
          <p:nvPr/>
        </p:nvSpPr>
        <p:spPr>
          <a:xfrm>
            <a:off x="731520" y="1463040"/>
            <a:ext cx="6858000" cy="1737360"/>
          </a:xfrm>
          <a:prstGeom prst="rect">
            <a:avLst/>
          </a:prstGeom>
          <a:noFill/>
        </p:spPr>
        <p:txBody>
          <a:bodyPr wrap="square" lIns="0" rIns="0" tIns="0" bIns="0" anchor="t">
            <a:spAutoFit/>
          </a:bodyPr>
          <a:lstStyle/>
          <a:p>
            <a:pPr algn="l">
              <a:spcAft>
                <a:spcPts val="600"/>
              </a:spcAft>
            </a:pPr>
            <a:r>
              <a:rPr sz="4000" b="1">
                <a:solidFill>
                  <a:srgbClr val="FFFFFF"/>
                </a:solidFill>
                <a:latin typeface="Malgun Gothic"/>
                <a:ea typeface="Malgun Gothic"/>
                <a:cs typeface="Malgun Gothic"/>
              </a:rPr>
              <a:t>질문 받겠습니다</a:t>
            </a:r>
          </a:p>
          <a:p>
            <a:pPr algn="l">
              <a:spcAft>
                <a:spcPts val="600"/>
              </a:spcAft>
            </a:pPr>
            <a:r>
              <a:rPr sz="4000" b="1">
                <a:solidFill>
                  <a:srgbClr val="FFFFFF"/>
                </a:solidFill>
                <a:latin typeface="Malgun Gothic"/>
                <a:ea typeface="Malgun Gothic"/>
                <a:cs typeface="Malgun Gothic"/>
              </a:rPr>
              <a:t>휴대폰으로 직접 써 보세요</a:t>
            </a:r>
          </a:p>
        </p:txBody>
      </p:sp>
      <p:sp>
        <p:nvSpPr>
          <p:cNvPr id="4" name="TextBox 3"/>
          <p:cNvSpPr txBox="1"/>
          <p:nvPr/>
        </p:nvSpPr>
        <p:spPr>
          <a:xfrm>
            <a:off x="749808" y="3520440"/>
            <a:ext cx="6858000" cy="822960"/>
          </a:xfrm>
          <a:prstGeom prst="rect">
            <a:avLst/>
          </a:prstGeom>
          <a:noFill/>
        </p:spPr>
        <p:txBody>
          <a:bodyPr wrap="square" lIns="0" rIns="0" tIns="0" bIns="0" anchor="t">
            <a:spAutoFit/>
          </a:bodyPr>
          <a:lstStyle/>
          <a:p>
            <a:pPr algn="l">
              <a:spcAft>
                <a:spcPts val="400"/>
              </a:spcAft>
            </a:pPr>
            <a:r>
              <a:rPr sz="1500" b="0">
                <a:solidFill>
                  <a:srgbClr val="FFFFFF"/>
                </a:solidFill>
                <a:latin typeface="Malgun Gothic"/>
                <a:ea typeface="Malgun Gothic"/>
                <a:cs typeface="Malgun Gothic"/>
              </a:rPr>
              <a:t>카메라로 오른쪽 QR을 찍으면 바로 열립니다.</a:t>
            </a:r>
          </a:p>
          <a:p>
            <a:pPr algn="l">
              <a:spcAft>
                <a:spcPts val="400"/>
              </a:spcAft>
            </a:pPr>
            <a:r>
              <a:rPr sz="1500" b="0">
                <a:solidFill>
                  <a:srgbClr val="FFFFFF"/>
                </a:solidFill>
                <a:latin typeface="Malgun Gothic"/>
                <a:ea typeface="Malgun Gothic"/>
                <a:cs typeface="Malgun Gothic"/>
              </a:rPr>
              <a:t>'홈 화면에 추가'하면 앱처럼 알림을 받아요.</a:t>
            </a:r>
          </a:p>
        </p:txBody>
      </p:sp>
      <p:sp>
        <p:nvSpPr>
          <p:cNvPr id="5" name="Rounded Rectangle 4">
            <a:hlinkClick r:id="rId2"/>
          </p:cNvPr>
          <p:cNvSpPr/>
          <p:nvPr/>
        </p:nvSpPr>
        <p:spPr>
          <a:xfrm>
            <a:off x="749808" y="4526280"/>
            <a:ext cx="3017520" cy="640080"/>
          </a:xfrm>
          <a:prstGeom prst="roundRect">
            <a:avLst>
              <a:gd name="adj" fmla="val 50000"/>
            </a:avLst>
          </a:prstGeom>
          <a:solidFill>
            <a:srgbClr val="1E9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4526280"/>
            <a:ext cx="3017520" cy="640080"/>
          </a:xfrm>
          <a:prstGeom prst="rect">
            <a:avLst/>
          </a:prstGeom>
          <a:noFill/>
        </p:spPr>
        <p:txBody>
          <a:bodyPr wrap="square" lIns="0" rIns="0" tIns="0" bIns="0" anchor="ctr">
            <a:spAutoFit/>
          </a:bodyPr>
          <a:lstStyle/>
          <a:p>
            <a:pPr algn="ctr"/>
            <a:r>
              <a:rPr sz="1700" b="1">
                <a:solidFill>
                  <a:srgbClr val="FFFFFF"/>
                </a:solidFill>
                <a:latin typeface="Malgun Gothic"/>
                <a:ea typeface="Malgun Gothic"/>
                <a:cs typeface="Malgun Gothic"/>
              </a:rPr>
              <a:t>▶  지금 열어 보기</a:t>
            </a:r>
          </a:p>
        </p:txBody>
      </p:sp>
      <p:sp>
        <p:nvSpPr>
          <p:cNvPr id="7" name="TextBox 6"/>
          <p:cNvSpPr txBox="1"/>
          <p:nvPr/>
        </p:nvSpPr>
        <p:spPr>
          <a:xfrm>
            <a:off x="749808" y="5486400"/>
            <a:ext cx="1097280" cy="274320"/>
          </a:xfrm>
          <a:prstGeom prst="rect">
            <a:avLst/>
          </a:prstGeom>
          <a:noFill/>
        </p:spPr>
        <p:txBody>
          <a:bodyPr wrap="square" lIns="0" rIns="0" tIns="0" bIns="0" anchor="t">
            <a:spAutoFit/>
          </a:bodyPr>
          <a:lstStyle/>
          <a:p>
            <a:pPr algn="l"/>
            <a:r>
              <a:rPr sz="1200" b="1">
                <a:solidFill>
                  <a:srgbClr val="A9CBF2"/>
                </a:solidFill>
                <a:latin typeface="Malgun Gothic"/>
                <a:ea typeface="Malgun Gothic"/>
                <a:cs typeface="Malgun Gothic"/>
              </a:rPr>
              <a:t>바로 가기</a:t>
            </a:r>
          </a:p>
        </p:txBody>
      </p:sp>
      <p:sp>
        <p:nvSpPr>
          <p:cNvPr id="8" name="TextBox 7"/>
          <p:cNvSpPr txBox="1"/>
          <p:nvPr/>
        </p:nvSpPr>
        <p:spPr>
          <a:xfrm>
            <a:off x="1828800" y="5486400"/>
            <a:ext cx="5029200" cy="274320"/>
          </a:xfrm>
          <a:prstGeom prst="rect">
            <a:avLst/>
          </a:prstGeom>
          <a:noFill/>
        </p:spPr>
        <p:txBody>
          <a:bodyPr wrap="square" lIns="0" rIns="0" tIns="0" bIns="0" anchor="t">
            <a:spAutoFit/>
          </a:bodyPr>
          <a:lstStyle/>
          <a:p>
            <a:pPr algn="l"/>
            <a:r>
              <a:rPr sz="1200" b="0">
                <a:solidFill>
                  <a:srgbClr val="FFFFFF"/>
                </a:solidFill>
                <a:latin typeface="Malgun Gothic"/>
                <a:ea typeface="Malgun Gothic"/>
                <a:cs typeface="Malgun Gothic"/>
              </a:rPr>
              <a:t>scnuaram.vercel.app</a:t>
            </a:r>
          </a:p>
        </p:txBody>
      </p:sp>
      <p:sp>
        <p:nvSpPr>
          <p:cNvPr id="9" name="TextBox 8"/>
          <p:cNvSpPr txBox="1"/>
          <p:nvPr/>
        </p:nvSpPr>
        <p:spPr>
          <a:xfrm>
            <a:off x="749808" y="5852160"/>
            <a:ext cx="1097280" cy="274320"/>
          </a:xfrm>
          <a:prstGeom prst="rect">
            <a:avLst/>
          </a:prstGeom>
          <a:noFill/>
        </p:spPr>
        <p:txBody>
          <a:bodyPr wrap="square" lIns="0" rIns="0" tIns="0" bIns="0" anchor="t">
            <a:spAutoFit/>
          </a:bodyPr>
          <a:lstStyle/>
          <a:p>
            <a:pPr algn="l"/>
            <a:r>
              <a:rPr sz="1200" b="1">
                <a:solidFill>
                  <a:srgbClr val="A9CBF2"/>
                </a:solidFill>
                <a:latin typeface="Malgun Gothic"/>
                <a:ea typeface="Malgun Gothic"/>
                <a:cs typeface="Malgun Gothic"/>
              </a:rPr>
              <a:t>소스 코드</a:t>
            </a:r>
          </a:p>
        </p:txBody>
      </p:sp>
      <p:sp>
        <p:nvSpPr>
          <p:cNvPr id="10" name="TextBox 9"/>
          <p:cNvSpPr txBox="1"/>
          <p:nvPr/>
        </p:nvSpPr>
        <p:spPr>
          <a:xfrm>
            <a:off x="1828800" y="5852160"/>
            <a:ext cx="5029200" cy="274320"/>
          </a:xfrm>
          <a:prstGeom prst="rect">
            <a:avLst/>
          </a:prstGeom>
          <a:noFill/>
        </p:spPr>
        <p:txBody>
          <a:bodyPr wrap="square" lIns="0" rIns="0" tIns="0" bIns="0" anchor="t">
            <a:spAutoFit/>
          </a:bodyPr>
          <a:lstStyle/>
          <a:p>
            <a:pPr algn="l"/>
            <a:r>
              <a:rPr sz="1200" b="0">
                <a:solidFill>
                  <a:srgbClr val="FFFFFF"/>
                </a:solidFill>
                <a:latin typeface="Malgun Gothic"/>
                <a:ea typeface="Malgun Gothic"/>
                <a:cs typeface="Malgun Gothic"/>
              </a:rPr>
              <a:t>github.com/GOBIEBERPA/scnu-lens</a:t>
            </a:r>
          </a:p>
        </p:txBody>
      </p:sp>
      <p:sp>
        <p:nvSpPr>
          <p:cNvPr id="11" name="TextBox 10"/>
          <p:cNvSpPr txBox="1"/>
          <p:nvPr/>
        </p:nvSpPr>
        <p:spPr>
          <a:xfrm>
            <a:off x="749808" y="6217920"/>
            <a:ext cx="1097280" cy="274320"/>
          </a:xfrm>
          <a:prstGeom prst="rect">
            <a:avLst/>
          </a:prstGeom>
          <a:noFill/>
        </p:spPr>
        <p:txBody>
          <a:bodyPr wrap="square" lIns="0" rIns="0" tIns="0" bIns="0" anchor="t">
            <a:spAutoFit/>
          </a:bodyPr>
          <a:lstStyle/>
          <a:p>
            <a:pPr algn="l"/>
            <a:r>
              <a:rPr sz="1200" b="1">
                <a:solidFill>
                  <a:srgbClr val="A9CBF2"/>
                </a:solidFill>
                <a:latin typeface="Malgun Gothic"/>
                <a:ea typeface="Malgun Gothic"/>
                <a:cs typeface="Malgun Gothic"/>
              </a:rPr>
              <a:t>연락처</a:t>
            </a:r>
          </a:p>
        </p:txBody>
      </p:sp>
      <p:sp>
        <p:nvSpPr>
          <p:cNvPr id="12" name="TextBox 11"/>
          <p:cNvSpPr txBox="1"/>
          <p:nvPr/>
        </p:nvSpPr>
        <p:spPr>
          <a:xfrm>
            <a:off x="1828800" y="6217920"/>
            <a:ext cx="5029200" cy="274320"/>
          </a:xfrm>
          <a:prstGeom prst="rect">
            <a:avLst/>
          </a:prstGeom>
          <a:noFill/>
        </p:spPr>
        <p:txBody>
          <a:bodyPr wrap="square" lIns="0" rIns="0" tIns="0" bIns="0" anchor="t">
            <a:spAutoFit/>
          </a:bodyPr>
          <a:lstStyle/>
          <a:p>
            <a:pPr algn="l"/>
            <a:r>
              <a:rPr sz="1200" b="0">
                <a:solidFill>
                  <a:srgbClr val="FFFFFF"/>
                </a:solidFill>
                <a:latin typeface="Malgun Gothic"/>
                <a:ea typeface="Malgun Gothic"/>
                <a:cs typeface="Malgun Gothic"/>
              </a:rPr>
              <a:t>이휴단 · scnuhyudan@gmail.com</a:t>
            </a:r>
          </a:p>
        </p:txBody>
      </p:sp>
      <p:sp>
        <p:nvSpPr>
          <p:cNvPr id="13" name="Rounded Rectangle 12"/>
          <p:cNvSpPr/>
          <p:nvPr/>
        </p:nvSpPr>
        <p:spPr>
          <a:xfrm>
            <a:off x="8138160" y="1371600"/>
            <a:ext cx="3291840" cy="32918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qr-scnuaram.png">
            <a:hlinkClick r:id="rId2"/>
          </p:cNvPr>
          <p:cNvPicPr>
            <a:picLocks noChangeAspect="1"/>
          </p:cNvPicPr>
          <p:nvPr/>
        </p:nvPicPr>
        <p:blipFill>
          <a:blip r:embed="rId3"/>
          <a:stretch>
            <a:fillRect/>
          </a:stretch>
        </p:blipFill>
        <p:spPr>
          <a:xfrm>
            <a:off x="8321040" y="1554480"/>
            <a:ext cx="2926080" cy="2926080"/>
          </a:xfrm>
          <a:prstGeom prst="rect">
            <a:avLst/>
          </a:prstGeom>
        </p:spPr>
      </p:pic>
      <p:sp>
        <p:nvSpPr>
          <p:cNvPr id="15" name="TextBox 14"/>
          <p:cNvSpPr txBox="1"/>
          <p:nvPr/>
        </p:nvSpPr>
        <p:spPr>
          <a:xfrm>
            <a:off x="8138160" y="4846320"/>
            <a:ext cx="3291840" cy="365760"/>
          </a:xfrm>
          <a:prstGeom prst="rect">
            <a:avLst/>
          </a:prstGeom>
          <a:noFill/>
        </p:spPr>
        <p:txBody>
          <a:bodyPr wrap="square" lIns="0" rIns="0" tIns="0" bIns="0" anchor="t">
            <a:spAutoFit/>
          </a:bodyPr>
          <a:lstStyle/>
          <a:p>
            <a:pPr algn="ctr"/>
            <a:r>
              <a:rPr sz="1300" b="0">
                <a:solidFill>
                  <a:srgbClr val="A9CBF2"/>
                </a:solidFill>
                <a:latin typeface="Malgun Gothic"/>
                <a:ea typeface="Malgun Gothic"/>
                <a:cs typeface="Malgun Gothic"/>
              </a:rPr>
              <a:t>scnuaram.vercel.app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