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SCNU Lens를 만든 이휴단입니다. 학교 곳곳에 흩어진 공지를 한곳에 모아서, 나에게 맞는 것만 마감 전에 알려 주는 앱입니다.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순천대 공지는 학사, 장학, 학과, 기관 게시판까지 109곳에 흩어져 있고, 공모전과 자격증 일정은 또 다른 사이트에 있습니다. 게다가 나에게 해당되는지, 언제까지인지는 긴 본문과 첨부파일 속에 있어서, 결국 마감이 지나서야 알게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들어오면 학과와 관심사를 30초 만에 고릅니다. 학과는 '컴공'처럼 줄여 써도 찾아 줍니다. 그러면 나에게 맞는 공지를 이유와 함께 보여 주고, 누르면 대상·기간·신청방법이 한 장으로 정리돼 있습니다. 마감 7일, 3일, 1일 전에는 휴대폰으로 알려 줍니다.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공지 본문과 첨부파일을 읽고, 어떤 분야인지, 누가 대상인지, 언제 마감인지를 뽑아서 한 장의 카드로 정리합니다. 여러 게시판에 같은 공지가 올라오면 하나로 합칩니다. 유료 AI 서비스 없이 공개된 AI 모델을 서버 안에서 돌리기 때문에 비용은 0원입니다.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 이 순간에도 학교 게시판 109곳과 공공 API 3종을 매시간 확인하고 있습니다. 컴퓨터에서도 휴대폰에서도 같은 주소로 열리고, 설치 없이 홈 화면에 추가하면 앱처럼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지금은 누구나 쓸 수 있는 웹앱으로 운영 중입니다. 다음으로는 학생들의 의견을 받아, 예를 들어 지역 한정 공고를 표시하고 추천이 빗나간 공지를 모아 규칙을 고치려고 합니다. 학교 사이트를 바꿀 필요 없이 이미 있는 게시판을 읽기 때문에, 같은 게시판 시스템을 쓰는 곳이라면 쉽게 넓힐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QR을 찍으시면 바로 써 보실 수 있습니다. 지금 시연해 보겠습니다. (초록 버튼을 누르면 사이트가 열립니다)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nuaram.vercel.app" TargetMode="External"/><Relationship Id="rId3" Type="http://schemas.openxmlformats.org/officeDocument/2006/relationships/image" Target="../media/image8.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731520" y="1417320"/>
            <a:ext cx="6858000" cy="365760"/>
          </a:xfrm>
          <a:prstGeom prst="rect">
            <a:avLst/>
          </a:prstGeom>
          <a:noFill/>
        </p:spPr>
        <p:txBody>
          <a:bodyPr wrap="square" lIns="0" rIns="0" tIns="0" bIns="0" anchor="t">
            <a:spAutoFit/>
          </a:bodyPr>
          <a:lstStyle/>
          <a:p>
            <a:pPr algn="l"/>
            <a:r>
              <a:rPr sz="1400" b="1">
                <a:solidFill>
                  <a:srgbClr val="A9CBF2"/>
                </a:solidFill>
                <a:latin typeface="Malgun Gothic"/>
                <a:ea typeface="Malgun Gothic"/>
                <a:cs typeface="Malgun Gothic"/>
              </a:rPr>
              <a:t>2026 SCNU OSS·AI 해커톤 · 기초 트랙</a:t>
            </a:r>
          </a:p>
        </p:txBody>
      </p:sp>
      <p:pic>
        <p:nvPicPr>
          <p:cNvPr id="3" name="Picture 2" descr="icon-512.png"/>
          <p:cNvPicPr>
            <a:picLocks noChangeAspect="1"/>
          </p:cNvPicPr>
          <p:nvPr/>
        </p:nvPicPr>
        <p:blipFill>
          <a:blip r:embed="rId2"/>
          <a:stretch>
            <a:fillRect/>
          </a:stretch>
        </p:blipFill>
        <p:spPr>
          <a:xfrm>
            <a:off x="731520" y="2011680"/>
            <a:ext cx="868680" cy="868680"/>
          </a:xfrm>
          <a:prstGeom prst="rect">
            <a:avLst/>
          </a:prstGeom>
        </p:spPr>
      </p:pic>
      <p:sp>
        <p:nvSpPr>
          <p:cNvPr id="4" name="TextBox 3"/>
          <p:cNvSpPr txBox="1"/>
          <p:nvPr/>
        </p:nvSpPr>
        <p:spPr>
          <a:xfrm>
            <a:off x="1783080" y="1993392"/>
            <a:ext cx="5943600" cy="914400"/>
          </a:xfrm>
          <a:prstGeom prst="rect">
            <a:avLst/>
          </a:prstGeom>
          <a:noFill/>
        </p:spPr>
        <p:txBody>
          <a:bodyPr wrap="square" lIns="0" rIns="0" tIns="0" bIns="0" anchor="ctr">
            <a:spAutoFit/>
          </a:bodyPr>
          <a:lstStyle/>
          <a:p>
            <a:pPr algn="l"/>
            <a:r>
              <a:rPr sz="5400" b="1">
                <a:solidFill>
                  <a:srgbClr val="FFFFFF"/>
                </a:solidFill>
                <a:latin typeface="Malgun Gothic"/>
                <a:ea typeface="Malgun Gothic"/>
                <a:cs typeface="Malgun Gothic"/>
              </a:rPr>
              <a:t>SCNU Lens</a:t>
            </a:r>
          </a:p>
        </p:txBody>
      </p:sp>
      <p:sp>
        <p:nvSpPr>
          <p:cNvPr id="5" name="TextBox 4"/>
          <p:cNvSpPr txBox="1"/>
          <p:nvPr/>
        </p:nvSpPr>
        <p:spPr>
          <a:xfrm>
            <a:off x="749808" y="3246120"/>
            <a:ext cx="6675120" cy="1188720"/>
          </a:xfrm>
          <a:prstGeom prst="rect">
            <a:avLst/>
          </a:prstGeom>
          <a:noFill/>
        </p:spPr>
        <p:txBody>
          <a:bodyPr wrap="square" lIns="0" rIns="0" tIns="0" bIns="0" anchor="t">
            <a:spAutoFit/>
          </a:bodyPr>
          <a:lstStyle/>
          <a:p>
            <a:pPr algn="l">
              <a:spcAft>
                <a:spcPts val="600"/>
              </a:spcAft>
            </a:pPr>
            <a:r>
              <a:rPr sz="2200" b="0">
                <a:solidFill>
                  <a:srgbClr val="FFFFFF"/>
                </a:solidFill>
                <a:latin typeface="Malgun Gothic"/>
                <a:ea typeface="Malgun Gothic"/>
                <a:cs typeface="Malgun Gothic"/>
              </a:rPr>
              <a:t>흩어진 학교 공지를 한곳에 모아</a:t>
            </a:r>
          </a:p>
          <a:p>
            <a:pPr algn="l">
              <a:spcAft>
                <a:spcPts val="600"/>
              </a:spcAft>
            </a:pPr>
            <a:r>
              <a:rPr sz="2200" b="0">
                <a:solidFill>
                  <a:srgbClr val="FFFFFF"/>
                </a:solidFill>
                <a:latin typeface="Malgun Gothic"/>
                <a:ea typeface="Malgun Gothic"/>
                <a:cs typeface="Malgun Gothic"/>
              </a:rPr>
              <a:t>나에게 맞는 것만, 마감 전에 알려 주는 앱</a:t>
            </a:r>
          </a:p>
        </p:txBody>
      </p:sp>
      <p:sp>
        <p:nvSpPr>
          <p:cNvPr id="6" name="TextBox 5"/>
          <p:cNvSpPr txBox="1"/>
          <p:nvPr/>
        </p:nvSpPr>
        <p:spPr>
          <a:xfrm>
            <a:off x="749808" y="5669280"/>
            <a:ext cx="6675120" cy="365760"/>
          </a:xfrm>
          <a:prstGeom prst="rect">
            <a:avLst/>
          </a:prstGeom>
          <a:noFill/>
        </p:spPr>
        <p:txBody>
          <a:bodyPr wrap="square" lIns="0" rIns="0" tIns="0" bIns="0" anchor="t">
            <a:spAutoFit/>
          </a:bodyPr>
          <a:lstStyle/>
          <a:p>
            <a:pPr algn="l"/>
            <a:r>
              <a:rPr sz="1300" b="0">
                <a:solidFill>
                  <a:srgbClr val="A9CBF2"/>
                </a:solidFill>
                <a:latin typeface="Malgun Gothic"/>
                <a:ea typeface="Malgun Gothic"/>
                <a:cs typeface="Malgun Gothic"/>
              </a:rPr>
              <a:t>이휴단  ·  scnuaram.vercel.app</a:t>
            </a:r>
          </a:p>
        </p:txBody>
      </p:sp>
      <p:sp>
        <p:nvSpPr>
          <p:cNvPr id="7" name="Rounded Rectangle 6"/>
          <p:cNvSpPr/>
          <p:nvPr/>
        </p:nvSpPr>
        <p:spPr>
          <a:xfrm>
            <a:off x="8522208" y="612648"/>
            <a:ext cx="2681488" cy="56327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2-for-me.png"/>
          <p:cNvPicPr>
            <a:picLocks noChangeAspect="1"/>
          </p:cNvPicPr>
          <p:nvPr/>
        </p:nvPicPr>
        <p:blipFill>
          <a:blip r:embed="rId3"/>
          <a:stretch>
            <a:fillRect/>
          </a:stretch>
        </p:blipFill>
        <p:spPr>
          <a:xfrm>
            <a:off x="8595360" y="685800"/>
            <a:ext cx="2535184" cy="54864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학교 공지는 한곳에 모여 있지 않습니다</a:t>
            </a:r>
          </a:p>
        </p:txBody>
      </p:sp>
      <p:sp>
        <p:nvSpPr>
          <p:cNvPr id="3" name="Rounded Rectangle 2"/>
          <p:cNvSpPr/>
          <p:nvPr/>
        </p:nvSpPr>
        <p:spPr>
          <a:xfrm>
            <a:off x="594360" y="1463040"/>
            <a:ext cx="5120640" cy="420624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1783080"/>
            <a:ext cx="987552"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83080"/>
            <a:ext cx="987552"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학사공지</a:t>
            </a:r>
          </a:p>
        </p:txBody>
      </p:sp>
      <p:sp>
        <p:nvSpPr>
          <p:cNvPr id="6" name="Rounded Rectangle 5"/>
          <p:cNvSpPr/>
          <p:nvPr/>
        </p:nvSpPr>
        <p:spPr>
          <a:xfrm>
            <a:off x="2788920" y="1874519"/>
            <a:ext cx="987552"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88920" y="1874519"/>
            <a:ext cx="987552"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장학공지</a:t>
            </a:r>
          </a:p>
        </p:txBody>
      </p:sp>
      <p:sp>
        <p:nvSpPr>
          <p:cNvPr id="8" name="Rounded Rectangle 7"/>
          <p:cNvSpPr/>
          <p:nvPr/>
        </p:nvSpPr>
        <p:spPr>
          <a:xfrm>
            <a:off x="3749039" y="2514600"/>
            <a:ext cx="1335024"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9039" y="2514600"/>
            <a:ext cx="1335024"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취업지원센터</a:t>
            </a:r>
          </a:p>
        </p:txBody>
      </p:sp>
      <p:sp>
        <p:nvSpPr>
          <p:cNvPr id="10" name="Rounded Rectangle 9"/>
          <p:cNvSpPr/>
          <p:nvPr/>
        </p:nvSpPr>
        <p:spPr>
          <a:xfrm>
            <a:off x="1005840" y="2560320"/>
            <a:ext cx="1335024"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560320"/>
            <a:ext cx="1335024"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컴퓨터공학과</a:t>
            </a:r>
          </a:p>
        </p:txBody>
      </p:sp>
      <p:sp>
        <p:nvSpPr>
          <p:cNvPr id="12" name="Rounded Rectangle 11"/>
          <p:cNvSpPr/>
          <p:nvPr/>
        </p:nvSpPr>
        <p:spPr>
          <a:xfrm>
            <a:off x="2606040" y="3200400"/>
            <a:ext cx="987552"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200400"/>
            <a:ext cx="987552"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간호학과</a:t>
            </a:r>
          </a:p>
        </p:txBody>
      </p:sp>
      <p:sp>
        <p:nvSpPr>
          <p:cNvPr id="14" name="Rounded Rectangle 13"/>
          <p:cNvSpPr/>
          <p:nvPr/>
        </p:nvSpPr>
        <p:spPr>
          <a:xfrm>
            <a:off x="822960" y="3429000"/>
            <a:ext cx="1161288"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29000"/>
            <a:ext cx="1161288"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식품공학과</a:t>
            </a:r>
          </a:p>
        </p:txBody>
      </p:sp>
      <p:sp>
        <p:nvSpPr>
          <p:cNvPr id="16" name="Rounded Rectangle 15"/>
          <p:cNvSpPr/>
          <p:nvPr/>
        </p:nvSpPr>
        <p:spPr>
          <a:xfrm>
            <a:off x="3246120" y="3886200"/>
            <a:ext cx="1682496"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6120" y="3886200"/>
            <a:ext cx="1682496"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큐넷 시험 일정</a:t>
            </a:r>
          </a:p>
        </p:txBody>
      </p:sp>
      <p:sp>
        <p:nvSpPr>
          <p:cNvPr id="18" name="Rounded Rectangle 17"/>
          <p:cNvSpPr/>
          <p:nvPr/>
        </p:nvSpPr>
        <p:spPr>
          <a:xfrm>
            <a:off x="960120" y="4297680"/>
            <a:ext cx="1682496"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297680"/>
            <a:ext cx="1682496"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창업 지원 사업</a:t>
            </a:r>
          </a:p>
        </p:txBody>
      </p:sp>
      <p:sp>
        <p:nvSpPr>
          <p:cNvPr id="20" name="Rounded Rectangle 19"/>
          <p:cNvSpPr/>
          <p:nvPr/>
        </p:nvSpPr>
        <p:spPr>
          <a:xfrm>
            <a:off x="2926080" y="4617720"/>
            <a:ext cx="987552"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0" y="4617720"/>
            <a:ext cx="987552"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국제교류</a:t>
            </a:r>
          </a:p>
        </p:txBody>
      </p:sp>
      <p:sp>
        <p:nvSpPr>
          <p:cNvPr id="22" name="Rounded Rectangle 21"/>
          <p:cNvSpPr/>
          <p:nvPr/>
        </p:nvSpPr>
        <p:spPr>
          <a:xfrm>
            <a:off x="868680" y="5074920"/>
            <a:ext cx="1508760"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074920"/>
            <a:ext cx="1508760"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데이터자격검정</a:t>
            </a:r>
          </a:p>
        </p:txBody>
      </p:sp>
      <p:sp>
        <p:nvSpPr>
          <p:cNvPr id="24" name="Rounded Rectangle 23"/>
          <p:cNvSpPr/>
          <p:nvPr/>
        </p:nvSpPr>
        <p:spPr>
          <a:xfrm>
            <a:off x="3566160" y="5074920"/>
            <a:ext cx="1161288" cy="384048"/>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66160" y="5074920"/>
            <a:ext cx="1161288" cy="384048"/>
          </a:xfrm>
          <a:prstGeom prst="rect">
            <a:avLst/>
          </a:prstGeom>
          <a:noFill/>
        </p:spPr>
        <p:txBody>
          <a:bodyPr wrap="square" lIns="0" rIns="0" tIns="0" bIns="0" anchor="ctr">
            <a:spAutoFit/>
          </a:bodyPr>
          <a:lstStyle/>
          <a:p>
            <a:pPr algn="ctr"/>
            <a:r>
              <a:rPr sz="1200" b="1">
                <a:solidFill>
                  <a:srgbClr val="0058B2"/>
                </a:solidFill>
                <a:latin typeface="Malgun Gothic"/>
                <a:ea typeface="Malgun Gothic"/>
                <a:cs typeface="Malgun Gothic"/>
              </a:rPr>
              <a:t>학생생활관</a:t>
            </a:r>
          </a:p>
        </p:txBody>
      </p:sp>
      <p:sp>
        <p:nvSpPr>
          <p:cNvPr id="26" name="TextBox 25"/>
          <p:cNvSpPr txBox="1"/>
          <p:nvPr/>
        </p:nvSpPr>
        <p:spPr>
          <a:xfrm>
            <a:off x="594360" y="5806440"/>
            <a:ext cx="5120640" cy="365760"/>
          </a:xfrm>
          <a:prstGeom prst="rect">
            <a:avLst/>
          </a:prstGeom>
          <a:noFill/>
        </p:spPr>
        <p:txBody>
          <a:bodyPr wrap="square" lIns="0" rIns="0" tIns="0" bIns="0" anchor="t">
            <a:spAutoFit/>
          </a:bodyPr>
          <a:lstStyle/>
          <a:p>
            <a:pPr algn="ctr"/>
            <a:r>
              <a:rPr sz="1500" b="1">
                <a:solidFill>
                  <a:srgbClr val="0058B2"/>
                </a:solidFill>
                <a:latin typeface="Malgun Gothic"/>
                <a:ea typeface="Malgun Gothic"/>
                <a:cs typeface="Malgun Gothic"/>
              </a:rPr>
              <a:t>109곳</a:t>
            </a:r>
            <a:r>
              <a:rPr sz="1500" b="0">
                <a:solidFill>
                  <a:srgbClr val="1F232B"/>
                </a:solidFill>
                <a:latin typeface="Malgun Gothic"/>
                <a:ea typeface="Malgun Gothic"/>
                <a:cs typeface="Malgun Gothic"/>
              </a:rPr>
              <a:t> 학교 게시판  +  공모전·자격증 사이트</a:t>
            </a:r>
          </a:p>
        </p:txBody>
      </p:sp>
      <p:sp>
        <p:nvSpPr>
          <p:cNvPr id="27" name="Rounded Rectangle 26"/>
          <p:cNvSpPr/>
          <p:nvPr/>
        </p:nvSpPr>
        <p:spPr>
          <a:xfrm>
            <a:off x="6172200" y="1463040"/>
            <a:ext cx="5440680" cy="1234440"/>
          </a:xfrm>
          <a:prstGeom prst="roundRect">
            <a:avLst>
              <a:gd name="adj" fmla="val 8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46520" y="182880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182880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1</a:t>
            </a:r>
          </a:p>
        </p:txBody>
      </p:sp>
      <p:sp>
        <p:nvSpPr>
          <p:cNvPr id="30" name="TextBox 29"/>
          <p:cNvSpPr txBox="1"/>
          <p:nvPr/>
        </p:nvSpPr>
        <p:spPr>
          <a:xfrm>
            <a:off x="7178040" y="1691640"/>
            <a:ext cx="4297680" cy="411480"/>
          </a:xfrm>
          <a:prstGeom prst="rect">
            <a:avLst/>
          </a:prstGeom>
          <a:noFill/>
        </p:spPr>
        <p:txBody>
          <a:bodyPr wrap="square" lIns="0" rIns="0" tIns="0" bIns="0" anchor="t">
            <a:spAutoFit/>
          </a:bodyPr>
          <a:lstStyle/>
          <a:p>
            <a:pPr algn="l"/>
            <a:r>
              <a:rPr sz="1900" b="1">
                <a:solidFill>
                  <a:srgbClr val="1F232B"/>
                </a:solidFill>
                <a:latin typeface="Malgun Gothic"/>
                <a:ea typeface="Malgun Gothic"/>
                <a:cs typeface="Malgun Gothic"/>
              </a:rPr>
              <a:t>어디서 봐야 할지 모름</a:t>
            </a:r>
          </a:p>
        </p:txBody>
      </p:sp>
      <p:sp>
        <p:nvSpPr>
          <p:cNvPr id="31" name="TextBox 30"/>
          <p:cNvSpPr txBox="1"/>
          <p:nvPr/>
        </p:nvSpPr>
        <p:spPr>
          <a:xfrm>
            <a:off x="7178040" y="2121408"/>
            <a:ext cx="4297680" cy="548640"/>
          </a:xfrm>
          <a:prstGeom prst="rect">
            <a:avLst/>
          </a:prstGeom>
          <a:noFill/>
        </p:spPr>
        <p:txBody>
          <a:bodyPr wrap="square" lIns="0" rIns="0" tIns="0" bIns="0" anchor="t">
            <a:spAutoFit/>
          </a:bodyPr>
          <a:lstStyle/>
          <a:p>
            <a:pPr algn="l"/>
            <a:r>
              <a:rPr sz="1300" b="0">
                <a:solidFill>
                  <a:srgbClr val="666E7A"/>
                </a:solidFill>
                <a:latin typeface="Malgun Gothic"/>
                <a:ea typeface="Malgun Gothic"/>
                <a:cs typeface="Malgun Gothic"/>
              </a:rPr>
              <a:t>본부·학과·기관 게시판을 하나씩 들어가 봐야 함</a:t>
            </a:r>
          </a:p>
        </p:txBody>
      </p:sp>
      <p:sp>
        <p:nvSpPr>
          <p:cNvPr id="32" name="Rounded Rectangle 31"/>
          <p:cNvSpPr/>
          <p:nvPr/>
        </p:nvSpPr>
        <p:spPr>
          <a:xfrm>
            <a:off x="6172200" y="2926080"/>
            <a:ext cx="5440680" cy="1234440"/>
          </a:xfrm>
          <a:prstGeom prst="roundRect">
            <a:avLst>
              <a:gd name="adj" fmla="val 8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46520" y="329184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329184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2</a:t>
            </a:r>
          </a:p>
        </p:txBody>
      </p:sp>
      <p:sp>
        <p:nvSpPr>
          <p:cNvPr id="35" name="TextBox 34"/>
          <p:cNvSpPr txBox="1"/>
          <p:nvPr/>
        </p:nvSpPr>
        <p:spPr>
          <a:xfrm>
            <a:off x="7178040" y="3154680"/>
            <a:ext cx="4297680" cy="411480"/>
          </a:xfrm>
          <a:prstGeom prst="rect">
            <a:avLst/>
          </a:prstGeom>
          <a:noFill/>
        </p:spPr>
        <p:txBody>
          <a:bodyPr wrap="square" lIns="0" rIns="0" tIns="0" bIns="0" anchor="t">
            <a:spAutoFit/>
          </a:bodyPr>
          <a:lstStyle/>
          <a:p>
            <a:pPr algn="l"/>
            <a:r>
              <a:rPr sz="1900" b="1">
                <a:solidFill>
                  <a:srgbClr val="1F232B"/>
                </a:solidFill>
                <a:latin typeface="Malgun Gothic"/>
                <a:ea typeface="Malgun Gothic"/>
                <a:cs typeface="Malgun Gothic"/>
              </a:rPr>
              <a:t>나에게 해당되는지 모름</a:t>
            </a:r>
          </a:p>
        </p:txBody>
      </p:sp>
      <p:sp>
        <p:nvSpPr>
          <p:cNvPr id="36" name="TextBox 35"/>
          <p:cNvSpPr txBox="1"/>
          <p:nvPr/>
        </p:nvSpPr>
        <p:spPr>
          <a:xfrm>
            <a:off x="7178040" y="3584448"/>
            <a:ext cx="4297680" cy="548640"/>
          </a:xfrm>
          <a:prstGeom prst="rect">
            <a:avLst/>
          </a:prstGeom>
          <a:noFill/>
        </p:spPr>
        <p:txBody>
          <a:bodyPr wrap="square" lIns="0" rIns="0" tIns="0" bIns="0" anchor="t">
            <a:spAutoFit/>
          </a:bodyPr>
          <a:lstStyle/>
          <a:p>
            <a:pPr algn="l"/>
            <a:r>
              <a:rPr sz="1300" b="0">
                <a:solidFill>
                  <a:srgbClr val="666E7A"/>
                </a:solidFill>
                <a:latin typeface="Malgun Gothic"/>
                <a:ea typeface="Malgun Gothic"/>
                <a:cs typeface="Malgun Gothic"/>
              </a:rPr>
              <a:t>대상·마감일은 긴 본문과 HWP·PDF 첨부 속에</a:t>
            </a:r>
          </a:p>
        </p:txBody>
      </p:sp>
      <p:sp>
        <p:nvSpPr>
          <p:cNvPr id="37" name="Rounded Rectangle 36"/>
          <p:cNvSpPr/>
          <p:nvPr/>
        </p:nvSpPr>
        <p:spPr>
          <a:xfrm>
            <a:off x="6172200" y="4389120"/>
            <a:ext cx="5440680" cy="1234440"/>
          </a:xfrm>
          <a:prstGeom prst="roundRect">
            <a:avLst>
              <a:gd name="adj" fmla="val 8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446520" y="4754880"/>
            <a:ext cx="502920" cy="502920"/>
          </a:xfrm>
          <a:prstGeom prst="ellipse">
            <a:avLst/>
          </a:prstGeom>
          <a:solidFill>
            <a:srgbClr val="D14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475488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3</a:t>
            </a:r>
          </a:p>
        </p:txBody>
      </p:sp>
      <p:sp>
        <p:nvSpPr>
          <p:cNvPr id="40" name="TextBox 39"/>
          <p:cNvSpPr txBox="1"/>
          <p:nvPr/>
        </p:nvSpPr>
        <p:spPr>
          <a:xfrm>
            <a:off x="7178040" y="4617720"/>
            <a:ext cx="4297680" cy="411480"/>
          </a:xfrm>
          <a:prstGeom prst="rect">
            <a:avLst/>
          </a:prstGeom>
          <a:noFill/>
        </p:spPr>
        <p:txBody>
          <a:bodyPr wrap="square" lIns="0" rIns="0" tIns="0" bIns="0" anchor="t">
            <a:spAutoFit/>
          </a:bodyPr>
          <a:lstStyle/>
          <a:p>
            <a:pPr algn="l"/>
            <a:r>
              <a:rPr sz="1900" b="1">
                <a:solidFill>
                  <a:srgbClr val="1F232B"/>
                </a:solidFill>
                <a:latin typeface="Malgun Gothic"/>
                <a:ea typeface="Malgun Gothic"/>
                <a:cs typeface="Malgun Gothic"/>
              </a:rPr>
              <a:t>마감이 지나서야 앎</a:t>
            </a:r>
          </a:p>
        </p:txBody>
      </p:sp>
      <p:sp>
        <p:nvSpPr>
          <p:cNvPr id="41" name="TextBox 40"/>
          <p:cNvSpPr txBox="1"/>
          <p:nvPr/>
        </p:nvSpPr>
        <p:spPr>
          <a:xfrm>
            <a:off x="7178040" y="5047488"/>
            <a:ext cx="4297680" cy="548640"/>
          </a:xfrm>
          <a:prstGeom prst="rect">
            <a:avLst/>
          </a:prstGeom>
          <a:noFill/>
        </p:spPr>
        <p:txBody>
          <a:bodyPr wrap="square" lIns="0" rIns="0" tIns="0" bIns="0" anchor="t">
            <a:spAutoFit/>
          </a:bodyPr>
          <a:lstStyle/>
          <a:p>
            <a:pPr algn="l"/>
            <a:r>
              <a:rPr sz="1300" b="0">
                <a:solidFill>
                  <a:srgbClr val="666E7A"/>
                </a:solidFill>
                <a:latin typeface="Malgun Gothic"/>
                <a:ea typeface="Malgun Gothic"/>
                <a:cs typeface="Malgun Gothic"/>
              </a:rPr>
              <a:t>장학금·공모전·채용 기회를 놓침</a:t>
            </a:r>
          </a:p>
        </p:txBody>
      </p:sp>
      <p:sp>
        <p:nvSpPr>
          <p:cNvPr id="42" name="TextBox 41"/>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그래서, 나에게 맞는 공지만 골라 주는 앱을 만들었습니다</a:t>
            </a:r>
          </a:p>
        </p:txBody>
      </p:sp>
      <p:sp>
        <p:nvSpPr>
          <p:cNvPr id="3" name="Rounded Rectangle 2"/>
          <p:cNvSpPr/>
          <p:nvPr/>
        </p:nvSpPr>
        <p:spPr>
          <a:xfrm>
            <a:off x="1069848" y="1527048"/>
            <a:ext cx="1899806" cy="394106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onboarding.png"/>
          <p:cNvPicPr>
            <a:picLocks noChangeAspect="1"/>
          </p:cNvPicPr>
          <p:nvPr/>
        </p:nvPicPr>
        <p:blipFill>
          <a:blip r:embed="rId2"/>
          <a:stretch>
            <a:fillRect/>
          </a:stretch>
        </p:blipFill>
        <p:spPr>
          <a:xfrm>
            <a:off x="1143000" y="1600200"/>
            <a:ext cx="1753502" cy="3794760"/>
          </a:xfrm>
          <a:prstGeom prst="rect">
            <a:avLst/>
          </a:prstGeom>
        </p:spPr>
      </p:pic>
      <p:sp>
        <p:nvSpPr>
          <p:cNvPr id="5" name="Oval 4"/>
          <p:cNvSpPr/>
          <p:nvPr/>
        </p:nvSpPr>
        <p:spPr>
          <a:xfrm>
            <a:off x="822959" y="1371600"/>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371600"/>
            <a:ext cx="457200" cy="45720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1</a:t>
            </a:r>
          </a:p>
        </p:txBody>
      </p:sp>
      <p:sp>
        <p:nvSpPr>
          <p:cNvPr id="7" name="TextBox 6"/>
          <p:cNvSpPr txBox="1"/>
          <p:nvPr/>
        </p:nvSpPr>
        <p:spPr>
          <a:xfrm>
            <a:off x="594359" y="5577840"/>
            <a:ext cx="2850782" cy="411480"/>
          </a:xfrm>
          <a:prstGeom prst="rect">
            <a:avLst/>
          </a:prstGeom>
          <a:noFill/>
        </p:spPr>
        <p:txBody>
          <a:bodyPr wrap="square" lIns="0" rIns="0" tIns="0" bIns="0" anchor="t">
            <a:spAutoFit/>
          </a:bodyPr>
          <a:lstStyle/>
          <a:p>
            <a:pPr algn="ctr"/>
            <a:r>
              <a:rPr sz="1800" b="1">
                <a:solidFill>
                  <a:srgbClr val="1F232B"/>
                </a:solidFill>
                <a:latin typeface="Malgun Gothic"/>
                <a:ea typeface="Malgun Gothic"/>
                <a:cs typeface="Malgun Gothic"/>
              </a:rPr>
              <a:t>30초 설정</a:t>
            </a:r>
          </a:p>
        </p:txBody>
      </p:sp>
      <p:sp>
        <p:nvSpPr>
          <p:cNvPr id="8" name="TextBox 7"/>
          <p:cNvSpPr txBox="1"/>
          <p:nvPr/>
        </p:nvSpPr>
        <p:spPr>
          <a:xfrm>
            <a:off x="594359" y="5989320"/>
            <a:ext cx="2850782" cy="36576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학과는 '컴공'처럼 줄여 써도 OK</a:t>
            </a:r>
          </a:p>
        </p:txBody>
      </p:sp>
      <p:sp>
        <p:nvSpPr>
          <p:cNvPr id="9" name="Right Arrow 8"/>
          <p:cNvSpPr/>
          <p:nvPr/>
        </p:nvSpPr>
        <p:spPr>
          <a:xfrm>
            <a:off x="3189110" y="3337560"/>
            <a:ext cx="32918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04487" y="1527048"/>
            <a:ext cx="1899806" cy="394106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2-for-me.png"/>
          <p:cNvPicPr>
            <a:picLocks noChangeAspect="1"/>
          </p:cNvPicPr>
          <p:nvPr/>
        </p:nvPicPr>
        <p:blipFill>
          <a:blip r:embed="rId3"/>
          <a:stretch>
            <a:fillRect/>
          </a:stretch>
        </p:blipFill>
        <p:spPr>
          <a:xfrm>
            <a:off x="3977639" y="1600200"/>
            <a:ext cx="1753502" cy="3794760"/>
          </a:xfrm>
          <a:prstGeom prst="rect">
            <a:avLst/>
          </a:prstGeom>
        </p:spPr>
      </p:pic>
      <p:sp>
        <p:nvSpPr>
          <p:cNvPr id="12" name="Oval 11"/>
          <p:cNvSpPr/>
          <p:nvPr/>
        </p:nvSpPr>
        <p:spPr>
          <a:xfrm>
            <a:off x="3657600" y="1371600"/>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0" y="1371600"/>
            <a:ext cx="457200" cy="45720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2</a:t>
            </a:r>
          </a:p>
        </p:txBody>
      </p:sp>
      <p:sp>
        <p:nvSpPr>
          <p:cNvPr id="14" name="TextBox 13"/>
          <p:cNvSpPr txBox="1"/>
          <p:nvPr/>
        </p:nvSpPr>
        <p:spPr>
          <a:xfrm>
            <a:off x="3429000" y="5577840"/>
            <a:ext cx="2850782" cy="411480"/>
          </a:xfrm>
          <a:prstGeom prst="rect">
            <a:avLst/>
          </a:prstGeom>
          <a:noFill/>
        </p:spPr>
        <p:txBody>
          <a:bodyPr wrap="square" lIns="0" rIns="0" tIns="0" bIns="0" anchor="t">
            <a:spAutoFit/>
          </a:bodyPr>
          <a:lstStyle/>
          <a:p>
            <a:pPr algn="ctr"/>
            <a:r>
              <a:rPr sz="1800" b="1">
                <a:solidFill>
                  <a:srgbClr val="1F232B"/>
                </a:solidFill>
                <a:latin typeface="Malgun Gothic"/>
                <a:ea typeface="Malgun Gothic"/>
                <a:cs typeface="Malgun Gothic"/>
              </a:rPr>
              <a:t>나에게 맞는 공지</a:t>
            </a:r>
          </a:p>
        </p:txBody>
      </p:sp>
      <p:sp>
        <p:nvSpPr>
          <p:cNvPr id="15" name="TextBox 14"/>
          <p:cNvSpPr txBox="1"/>
          <p:nvPr/>
        </p:nvSpPr>
        <p:spPr>
          <a:xfrm>
            <a:off x="3429000" y="5989320"/>
            <a:ext cx="2850782" cy="36576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왜 추천했는지 이유까지</a:t>
            </a:r>
          </a:p>
        </p:txBody>
      </p:sp>
      <p:sp>
        <p:nvSpPr>
          <p:cNvPr id="16" name="Right Arrow 15"/>
          <p:cNvSpPr/>
          <p:nvPr/>
        </p:nvSpPr>
        <p:spPr>
          <a:xfrm>
            <a:off x="6023750" y="3337560"/>
            <a:ext cx="32918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739128" y="1527048"/>
            <a:ext cx="1899806" cy="394106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3-detail.png"/>
          <p:cNvPicPr>
            <a:picLocks noChangeAspect="1"/>
          </p:cNvPicPr>
          <p:nvPr/>
        </p:nvPicPr>
        <p:blipFill>
          <a:blip r:embed="rId4"/>
          <a:stretch>
            <a:fillRect/>
          </a:stretch>
        </p:blipFill>
        <p:spPr>
          <a:xfrm>
            <a:off x="6812280" y="1600200"/>
            <a:ext cx="1753502" cy="3794760"/>
          </a:xfrm>
          <a:prstGeom prst="rect">
            <a:avLst/>
          </a:prstGeom>
        </p:spPr>
      </p:pic>
      <p:sp>
        <p:nvSpPr>
          <p:cNvPr id="19" name="Oval 18"/>
          <p:cNvSpPr/>
          <p:nvPr/>
        </p:nvSpPr>
        <p:spPr>
          <a:xfrm>
            <a:off x="6492240" y="1371600"/>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1371600"/>
            <a:ext cx="457200" cy="45720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3</a:t>
            </a:r>
          </a:p>
        </p:txBody>
      </p:sp>
      <p:sp>
        <p:nvSpPr>
          <p:cNvPr id="21" name="TextBox 20"/>
          <p:cNvSpPr txBox="1"/>
          <p:nvPr/>
        </p:nvSpPr>
        <p:spPr>
          <a:xfrm>
            <a:off x="6263640" y="5577840"/>
            <a:ext cx="2850782" cy="411480"/>
          </a:xfrm>
          <a:prstGeom prst="rect">
            <a:avLst/>
          </a:prstGeom>
          <a:noFill/>
        </p:spPr>
        <p:txBody>
          <a:bodyPr wrap="square" lIns="0" rIns="0" tIns="0" bIns="0" anchor="t">
            <a:spAutoFit/>
          </a:bodyPr>
          <a:lstStyle/>
          <a:p>
            <a:pPr algn="ctr"/>
            <a:r>
              <a:rPr sz="1800" b="1">
                <a:solidFill>
                  <a:srgbClr val="1F232B"/>
                </a:solidFill>
                <a:latin typeface="Malgun Gothic"/>
                <a:ea typeface="Malgun Gothic"/>
                <a:cs typeface="Malgun Gothic"/>
              </a:rPr>
              <a:t>한 장으로 정리</a:t>
            </a:r>
          </a:p>
        </p:txBody>
      </p:sp>
      <p:sp>
        <p:nvSpPr>
          <p:cNvPr id="22" name="TextBox 21"/>
          <p:cNvSpPr txBox="1"/>
          <p:nvPr/>
        </p:nvSpPr>
        <p:spPr>
          <a:xfrm>
            <a:off x="6263640" y="5989320"/>
            <a:ext cx="2850782" cy="36576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대상·기간·신청방법·문의</a:t>
            </a:r>
          </a:p>
        </p:txBody>
      </p:sp>
      <p:sp>
        <p:nvSpPr>
          <p:cNvPr id="23" name="Right Arrow 22"/>
          <p:cNvSpPr/>
          <p:nvPr/>
        </p:nvSpPr>
        <p:spPr>
          <a:xfrm>
            <a:off x="8858390" y="3337560"/>
            <a:ext cx="32918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573768" y="1527048"/>
            <a:ext cx="1899806" cy="394106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calendar.png"/>
          <p:cNvPicPr>
            <a:picLocks noChangeAspect="1"/>
          </p:cNvPicPr>
          <p:nvPr/>
        </p:nvPicPr>
        <p:blipFill>
          <a:blip r:embed="rId5"/>
          <a:stretch>
            <a:fillRect/>
          </a:stretch>
        </p:blipFill>
        <p:spPr>
          <a:xfrm>
            <a:off x="9646920" y="1600200"/>
            <a:ext cx="1753502" cy="3794760"/>
          </a:xfrm>
          <a:prstGeom prst="rect">
            <a:avLst/>
          </a:prstGeom>
        </p:spPr>
      </p:pic>
      <p:sp>
        <p:nvSpPr>
          <p:cNvPr id="26" name="Oval 25"/>
          <p:cNvSpPr/>
          <p:nvPr/>
        </p:nvSpPr>
        <p:spPr>
          <a:xfrm>
            <a:off x="9326880" y="1371600"/>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1371600"/>
            <a:ext cx="457200" cy="45720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4</a:t>
            </a:r>
          </a:p>
        </p:txBody>
      </p:sp>
      <p:sp>
        <p:nvSpPr>
          <p:cNvPr id="28" name="TextBox 27"/>
          <p:cNvSpPr txBox="1"/>
          <p:nvPr/>
        </p:nvSpPr>
        <p:spPr>
          <a:xfrm>
            <a:off x="9098280" y="5577840"/>
            <a:ext cx="2850782" cy="411480"/>
          </a:xfrm>
          <a:prstGeom prst="rect">
            <a:avLst/>
          </a:prstGeom>
          <a:noFill/>
        </p:spPr>
        <p:txBody>
          <a:bodyPr wrap="square" lIns="0" rIns="0" tIns="0" bIns="0" anchor="t">
            <a:spAutoFit/>
          </a:bodyPr>
          <a:lstStyle/>
          <a:p>
            <a:pPr algn="ctr"/>
            <a:r>
              <a:rPr sz="1800" b="1">
                <a:solidFill>
                  <a:srgbClr val="1F232B"/>
                </a:solidFill>
                <a:latin typeface="Malgun Gothic"/>
                <a:ea typeface="Malgun Gothic"/>
                <a:cs typeface="Malgun Gothic"/>
              </a:rPr>
              <a:t>마감 전에 알림</a:t>
            </a:r>
          </a:p>
        </p:txBody>
      </p:sp>
      <p:sp>
        <p:nvSpPr>
          <p:cNvPr id="29" name="TextBox 28"/>
          <p:cNvSpPr txBox="1"/>
          <p:nvPr/>
        </p:nvSpPr>
        <p:spPr>
          <a:xfrm>
            <a:off x="9098280" y="5989320"/>
            <a:ext cx="2850782" cy="36576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7·3·1일 전 휴대폰으로</a:t>
            </a:r>
          </a:p>
        </p:txBody>
      </p:sp>
      <p:sp>
        <p:nvSpPr>
          <p:cNvPr id="30" name="TextBox 29"/>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AI는 이렇게 긴 공지를 정리합니다</a:t>
            </a:r>
          </a:p>
        </p:txBody>
      </p:sp>
      <p:sp>
        <p:nvSpPr>
          <p:cNvPr id="3" name="Oval 2"/>
          <p:cNvSpPr/>
          <p:nvPr/>
        </p:nvSpPr>
        <p:spPr>
          <a:xfrm>
            <a:off x="594360" y="1417320"/>
            <a:ext cx="411480" cy="41148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20"/>
            <a:ext cx="411480" cy="41148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1</a:t>
            </a:r>
          </a:p>
        </p:txBody>
      </p:sp>
      <p:sp>
        <p:nvSpPr>
          <p:cNvPr id="5" name="TextBox 4"/>
          <p:cNvSpPr txBox="1"/>
          <p:nvPr/>
        </p:nvSpPr>
        <p:spPr>
          <a:xfrm>
            <a:off x="1097280" y="1444752"/>
            <a:ext cx="2926080" cy="365760"/>
          </a:xfrm>
          <a:prstGeom prst="rect">
            <a:avLst/>
          </a:prstGeom>
          <a:noFill/>
        </p:spPr>
        <p:txBody>
          <a:bodyPr wrap="square" lIns="0" rIns="0" tIns="0" bIns="0" anchor="t">
            <a:spAutoFit/>
          </a:bodyPr>
          <a:lstStyle/>
          <a:p>
            <a:pPr algn="l"/>
            <a:r>
              <a:rPr sz="1600" b="1">
                <a:solidFill>
                  <a:srgbClr val="1F232B"/>
                </a:solidFill>
                <a:latin typeface="Malgun Gothic"/>
                <a:ea typeface="Malgun Gothic"/>
                <a:cs typeface="Malgun Gothic"/>
              </a:rPr>
              <a:t>학교 공지 원문</a:t>
            </a:r>
          </a:p>
        </p:txBody>
      </p:sp>
      <p:sp>
        <p:nvSpPr>
          <p:cNvPr id="6" name="Rounded Rectangle 5"/>
          <p:cNvSpPr/>
          <p:nvPr/>
        </p:nvSpPr>
        <p:spPr>
          <a:xfrm>
            <a:off x="594360" y="2011680"/>
            <a:ext cx="3246120" cy="301752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240280"/>
            <a:ext cx="274320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468880"/>
            <a:ext cx="246888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697480"/>
            <a:ext cx="283464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926080"/>
            <a:ext cx="201168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3154680"/>
            <a:ext cx="265176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383280"/>
            <a:ext cx="274320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2960" y="3611880"/>
            <a:ext cx="173736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840480"/>
            <a:ext cx="256032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4069080"/>
            <a:ext cx="2286000" cy="91440"/>
          </a:xfrm>
          <a:prstGeom prst="roundRect">
            <a:avLst>
              <a:gd name="adj" fmla="val 50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434840"/>
            <a:ext cx="1188720" cy="365760"/>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434840"/>
            <a:ext cx="1188720" cy="365760"/>
          </a:xfrm>
          <a:prstGeom prst="rect">
            <a:avLst/>
          </a:prstGeom>
          <a:noFill/>
        </p:spPr>
        <p:txBody>
          <a:bodyPr wrap="square" lIns="0" rIns="0" tIns="0" bIns="0" anchor="ctr">
            <a:spAutoFit/>
          </a:bodyPr>
          <a:lstStyle/>
          <a:p>
            <a:pPr algn="ctr"/>
            <a:r>
              <a:rPr sz="1100" b="1">
                <a:solidFill>
                  <a:srgbClr val="0058B2"/>
                </a:solidFill>
                <a:latin typeface="Malgun Gothic"/>
                <a:ea typeface="Malgun Gothic"/>
                <a:cs typeface="Malgun Gothic"/>
              </a:rPr>
              <a:t>첨부.hwp</a:t>
            </a:r>
          </a:p>
        </p:txBody>
      </p:sp>
      <p:sp>
        <p:nvSpPr>
          <p:cNvPr id="18" name="Rounded Rectangle 17"/>
          <p:cNvSpPr/>
          <p:nvPr/>
        </p:nvSpPr>
        <p:spPr>
          <a:xfrm>
            <a:off x="2148840" y="4434840"/>
            <a:ext cx="1188720" cy="365760"/>
          </a:xfrm>
          <a:prstGeom prst="roundRect">
            <a:avLst>
              <a:gd name="adj" fmla="val 5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4434840"/>
            <a:ext cx="1188720" cy="365760"/>
          </a:xfrm>
          <a:prstGeom prst="rect">
            <a:avLst/>
          </a:prstGeom>
          <a:noFill/>
        </p:spPr>
        <p:txBody>
          <a:bodyPr wrap="square" lIns="0" rIns="0" tIns="0" bIns="0" anchor="ctr">
            <a:spAutoFit/>
          </a:bodyPr>
          <a:lstStyle/>
          <a:p>
            <a:pPr algn="ctr"/>
            <a:r>
              <a:rPr sz="1100" b="1">
                <a:solidFill>
                  <a:srgbClr val="0058B2"/>
                </a:solidFill>
                <a:latin typeface="Malgun Gothic"/>
                <a:ea typeface="Malgun Gothic"/>
                <a:cs typeface="Malgun Gothic"/>
              </a:rPr>
              <a:t>안내.pdf</a:t>
            </a:r>
          </a:p>
        </p:txBody>
      </p:sp>
      <p:sp>
        <p:nvSpPr>
          <p:cNvPr id="20" name="Right Arrow 19"/>
          <p:cNvSpPr/>
          <p:nvPr/>
        </p:nvSpPr>
        <p:spPr>
          <a:xfrm>
            <a:off x="3977639" y="3291840"/>
            <a:ext cx="32918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1417320"/>
            <a:ext cx="411480" cy="41148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1417320"/>
            <a:ext cx="411480" cy="41148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2</a:t>
            </a:r>
          </a:p>
        </p:txBody>
      </p:sp>
      <p:sp>
        <p:nvSpPr>
          <p:cNvPr id="23" name="TextBox 22"/>
          <p:cNvSpPr txBox="1"/>
          <p:nvPr/>
        </p:nvSpPr>
        <p:spPr>
          <a:xfrm>
            <a:off x="4983480" y="1444752"/>
            <a:ext cx="2743200" cy="365760"/>
          </a:xfrm>
          <a:prstGeom prst="rect">
            <a:avLst/>
          </a:prstGeom>
          <a:noFill/>
        </p:spPr>
        <p:txBody>
          <a:bodyPr wrap="square" lIns="0" rIns="0" tIns="0" bIns="0" anchor="t">
            <a:spAutoFit/>
          </a:bodyPr>
          <a:lstStyle/>
          <a:p>
            <a:pPr algn="l"/>
            <a:r>
              <a:rPr sz="1600" b="1">
                <a:solidFill>
                  <a:srgbClr val="1F232B"/>
                </a:solidFill>
                <a:latin typeface="Malgun Gothic"/>
                <a:ea typeface="Malgun Gothic"/>
                <a:cs typeface="Malgun Gothic"/>
              </a:rPr>
              <a:t>AI가 읽고 판단</a:t>
            </a:r>
          </a:p>
        </p:txBody>
      </p:sp>
      <p:sp>
        <p:nvSpPr>
          <p:cNvPr id="24" name="Rounded Rectangle 23"/>
          <p:cNvSpPr/>
          <p:nvPr/>
        </p:nvSpPr>
        <p:spPr>
          <a:xfrm>
            <a:off x="4480560" y="2011680"/>
            <a:ext cx="3063240" cy="621792"/>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2011680"/>
            <a:ext cx="640080" cy="62179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분야</a:t>
            </a:r>
          </a:p>
        </p:txBody>
      </p:sp>
      <p:sp>
        <p:nvSpPr>
          <p:cNvPr id="26" name="TextBox 25"/>
          <p:cNvSpPr txBox="1"/>
          <p:nvPr/>
        </p:nvSpPr>
        <p:spPr>
          <a:xfrm>
            <a:off x="5303520" y="2011680"/>
            <a:ext cx="2194560" cy="621792"/>
          </a:xfrm>
          <a:prstGeom prst="rect">
            <a:avLst/>
          </a:prstGeom>
          <a:noFill/>
        </p:spPr>
        <p:txBody>
          <a:bodyPr wrap="square" lIns="0" rIns="0" tIns="0" bIns="0" anchor="ctr">
            <a:spAutoFit/>
          </a:bodyPr>
          <a:lstStyle/>
          <a:p>
            <a:pPr algn="l"/>
            <a:r>
              <a:rPr sz="1200" b="0">
                <a:solidFill>
                  <a:srgbClr val="1F232B"/>
                </a:solidFill>
                <a:latin typeface="Malgun Gothic"/>
                <a:ea typeface="Malgun Gothic"/>
                <a:cs typeface="Malgun Gothic"/>
              </a:rPr>
              <a:t>장학 · 취업 · 공모전 · 자격증 …</a:t>
            </a:r>
          </a:p>
        </p:txBody>
      </p:sp>
      <p:sp>
        <p:nvSpPr>
          <p:cNvPr id="27" name="Rounded Rectangle 26"/>
          <p:cNvSpPr/>
          <p:nvPr/>
        </p:nvSpPr>
        <p:spPr>
          <a:xfrm>
            <a:off x="4480560" y="2779776"/>
            <a:ext cx="3063240" cy="621792"/>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63440" y="2779776"/>
            <a:ext cx="640080" cy="62179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대상</a:t>
            </a:r>
          </a:p>
        </p:txBody>
      </p:sp>
      <p:sp>
        <p:nvSpPr>
          <p:cNvPr id="29" name="TextBox 28"/>
          <p:cNvSpPr txBox="1"/>
          <p:nvPr/>
        </p:nvSpPr>
        <p:spPr>
          <a:xfrm>
            <a:off x="5303520" y="2779776"/>
            <a:ext cx="2194560" cy="621792"/>
          </a:xfrm>
          <a:prstGeom prst="rect">
            <a:avLst/>
          </a:prstGeom>
          <a:noFill/>
        </p:spPr>
        <p:txBody>
          <a:bodyPr wrap="square" lIns="0" rIns="0" tIns="0" bIns="0" anchor="ctr">
            <a:spAutoFit/>
          </a:bodyPr>
          <a:lstStyle/>
          <a:p>
            <a:pPr algn="l"/>
            <a:r>
              <a:rPr sz="1200" b="0">
                <a:solidFill>
                  <a:srgbClr val="1F232B"/>
                </a:solidFill>
                <a:latin typeface="Malgun Gothic"/>
                <a:ea typeface="Malgun Gothic"/>
                <a:cs typeface="Malgun Gothic"/>
              </a:rPr>
              <a:t>대학원생, 재학생, 신입생</a:t>
            </a:r>
          </a:p>
        </p:txBody>
      </p:sp>
      <p:sp>
        <p:nvSpPr>
          <p:cNvPr id="30" name="Rounded Rectangle 29"/>
          <p:cNvSpPr/>
          <p:nvPr/>
        </p:nvSpPr>
        <p:spPr>
          <a:xfrm>
            <a:off x="4480560" y="3547872"/>
            <a:ext cx="3063240" cy="621792"/>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3547872"/>
            <a:ext cx="640080" cy="62179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마감</a:t>
            </a:r>
          </a:p>
        </p:txBody>
      </p:sp>
      <p:sp>
        <p:nvSpPr>
          <p:cNvPr id="32" name="TextBox 31"/>
          <p:cNvSpPr txBox="1"/>
          <p:nvPr/>
        </p:nvSpPr>
        <p:spPr>
          <a:xfrm>
            <a:off x="5303520" y="3547872"/>
            <a:ext cx="2194560" cy="621792"/>
          </a:xfrm>
          <a:prstGeom prst="rect">
            <a:avLst/>
          </a:prstGeom>
          <a:noFill/>
        </p:spPr>
        <p:txBody>
          <a:bodyPr wrap="square" lIns="0" rIns="0" tIns="0" bIns="0" anchor="ctr">
            <a:spAutoFit/>
          </a:bodyPr>
          <a:lstStyle/>
          <a:p>
            <a:pPr algn="l"/>
            <a:r>
              <a:rPr sz="1200" b="0">
                <a:solidFill>
                  <a:srgbClr val="1F232B"/>
                </a:solidFill>
                <a:latin typeface="Malgun Gothic"/>
                <a:ea typeface="Malgun Gothic"/>
                <a:cs typeface="Malgun Gothic"/>
              </a:rPr>
              <a:t>10. 23.(금)  →  D-26</a:t>
            </a:r>
          </a:p>
        </p:txBody>
      </p:sp>
      <p:sp>
        <p:nvSpPr>
          <p:cNvPr id="33" name="Rounded Rectangle 32"/>
          <p:cNvSpPr/>
          <p:nvPr/>
        </p:nvSpPr>
        <p:spPr>
          <a:xfrm>
            <a:off x="4480560" y="4315968"/>
            <a:ext cx="3063240" cy="621792"/>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63440" y="4315968"/>
            <a:ext cx="640080" cy="62179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중복</a:t>
            </a:r>
          </a:p>
        </p:txBody>
      </p:sp>
      <p:sp>
        <p:nvSpPr>
          <p:cNvPr id="35" name="TextBox 34"/>
          <p:cNvSpPr txBox="1"/>
          <p:nvPr/>
        </p:nvSpPr>
        <p:spPr>
          <a:xfrm>
            <a:off x="5303520" y="4315968"/>
            <a:ext cx="2194560" cy="621792"/>
          </a:xfrm>
          <a:prstGeom prst="rect">
            <a:avLst/>
          </a:prstGeom>
          <a:noFill/>
        </p:spPr>
        <p:txBody>
          <a:bodyPr wrap="square" lIns="0" rIns="0" tIns="0" bIns="0" anchor="ctr">
            <a:spAutoFit/>
          </a:bodyPr>
          <a:lstStyle/>
          <a:p>
            <a:pPr algn="l"/>
            <a:r>
              <a:rPr sz="1200" b="0">
                <a:solidFill>
                  <a:srgbClr val="1F232B"/>
                </a:solidFill>
                <a:latin typeface="Malgun Gothic"/>
                <a:ea typeface="Malgun Gothic"/>
                <a:cs typeface="Malgun Gothic"/>
              </a:rPr>
              <a:t>같은 공지는 하나로</a:t>
            </a:r>
          </a:p>
        </p:txBody>
      </p:sp>
      <p:sp>
        <p:nvSpPr>
          <p:cNvPr id="36" name="Right Arrow 35"/>
          <p:cNvSpPr/>
          <p:nvPr/>
        </p:nvSpPr>
        <p:spPr>
          <a:xfrm>
            <a:off x="7680960" y="3291840"/>
            <a:ext cx="32918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183879" y="1417320"/>
            <a:ext cx="411480" cy="41148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83879" y="1417320"/>
            <a:ext cx="411480" cy="41148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3</a:t>
            </a:r>
          </a:p>
        </p:txBody>
      </p:sp>
      <p:sp>
        <p:nvSpPr>
          <p:cNvPr id="39" name="TextBox 38"/>
          <p:cNvSpPr txBox="1"/>
          <p:nvPr/>
        </p:nvSpPr>
        <p:spPr>
          <a:xfrm>
            <a:off x="8686800" y="1444752"/>
            <a:ext cx="2926080" cy="365760"/>
          </a:xfrm>
          <a:prstGeom prst="rect">
            <a:avLst/>
          </a:prstGeom>
          <a:noFill/>
        </p:spPr>
        <p:txBody>
          <a:bodyPr wrap="square" lIns="0" rIns="0" tIns="0" bIns="0" anchor="t">
            <a:spAutoFit/>
          </a:bodyPr>
          <a:lstStyle/>
          <a:p>
            <a:pPr algn="l"/>
            <a:r>
              <a:rPr sz="1600" b="1">
                <a:solidFill>
                  <a:srgbClr val="1F232B"/>
                </a:solidFill>
                <a:latin typeface="Malgun Gothic"/>
                <a:ea typeface="Malgun Gothic"/>
                <a:cs typeface="Malgun Gothic"/>
              </a:rPr>
              <a:t>한 장으로 정리</a:t>
            </a:r>
          </a:p>
        </p:txBody>
      </p:sp>
      <p:sp>
        <p:nvSpPr>
          <p:cNvPr id="40" name="Rounded Rectangle 39"/>
          <p:cNvSpPr/>
          <p:nvPr/>
        </p:nvSpPr>
        <p:spPr>
          <a:xfrm>
            <a:off x="8138159" y="1965960"/>
            <a:ext cx="3520440" cy="4432742"/>
          </a:xfrm>
          <a:prstGeom prst="roundRect">
            <a:avLst>
              <a:gd name="adj" fmla="val 3000"/>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detail-card.png"/>
          <p:cNvPicPr>
            <a:picLocks noChangeAspect="1"/>
          </p:cNvPicPr>
          <p:nvPr/>
        </p:nvPicPr>
        <p:blipFill>
          <a:blip r:embed="rId2"/>
          <a:stretch>
            <a:fillRect/>
          </a:stretch>
        </p:blipFill>
        <p:spPr>
          <a:xfrm>
            <a:off x="8183879" y="2011680"/>
            <a:ext cx="3429000" cy="4341302"/>
          </a:xfrm>
          <a:prstGeom prst="rect">
            <a:avLst/>
          </a:prstGeom>
        </p:spPr>
      </p:pic>
      <p:sp>
        <p:nvSpPr>
          <p:cNvPr id="42" name="Rounded Rectangle 41"/>
          <p:cNvSpPr/>
          <p:nvPr/>
        </p:nvSpPr>
        <p:spPr>
          <a:xfrm>
            <a:off x="594360" y="5349240"/>
            <a:ext cx="6949440" cy="91440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5349240"/>
            <a:ext cx="1371600" cy="914400"/>
          </a:xfrm>
          <a:prstGeom prst="rect">
            <a:avLst/>
          </a:prstGeom>
          <a:noFill/>
        </p:spPr>
        <p:txBody>
          <a:bodyPr wrap="square" lIns="0" rIns="0" tIns="0" bIns="0" anchor="ctr">
            <a:spAutoFit/>
          </a:bodyPr>
          <a:lstStyle/>
          <a:p>
            <a:pPr algn="l"/>
            <a:r>
              <a:rPr sz="3600" b="1">
                <a:solidFill>
                  <a:srgbClr val="0058B2"/>
                </a:solidFill>
                <a:latin typeface="Malgun Gothic"/>
                <a:ea typeface="Malgun Gothic"/>
                <a:cs typeface="Malgun Gothic"/>
              </a:rPr>
              <a:t>0원</a:t>
            </a:r>
          </a:p>
        </p:txBody>
      </p:sp>
      <p:sp>
        <p:nvSpPr>
          <p:cNvPr id="44" name="TextBox 43"/>
          <p:cNvSpPr txBox="1"/>
          <p:nvPr/>
        </p:nvSpPr>
        <p:spPr>
          <a:xfrm>
            <a:off x="2286000" y="5440680"/>
            <a:ext cx="5120640" cy="731520"/>
          </a:xfrm>
          <a:prstGeom prst="rect">
            <a:avLst/>
          </a:prstGeom>
          <a:noFill/>
        </p:spPr>
        <p:txBody>
          <a:bodyPr wrap="square" lIns="0" rIns="0" tIns="0" bIns="0" anchor="ctr">
            <a:spAutoFit/>
          </a:bodyPr>
          <a:lstStyle/>
          <a:p>
            <a:pPr algn="l">
              <a:spcAft>
                <a:spcPts val="200"/>
              </a:spcAft>
            </a:pPr>
            <a:r>
              <a:rPr sz="1300" b="1">
                <a:solidFill>
                  <a:srgbClr val="1F232B"/>
                </a:solidFill>
                <a:latin typeface="Malgun Gothic"/>
                <a:ea typeface="Malgun Gothic"/>
                <a:cs typeface="Malgun Gothic"/>
              </a:rPr>
              <a:t>유료 AI 서비스 없이</a:t>
            </a:r>
          </a:p>
          <a:p>
            <a:pPr algn="l">
              <a:spcAft>
                <a:spcPts val="200"/>
              </a:spcAft>
            </a:pPr>
            <a:r>
              <a:rPr sz="1300" b="0">
                <a:solidFill>
                  <a:srgbClr val="1F232B"/>
                </a:solidFill>
                <a:latin typeface="Malgun Gothic"/>
                <a:ea typeface="Malgun Gothic"/>
                <a:cs typeface="Malgun Gothic"/>
              </a:rPr>
              <a:t>공개 AI 모델을 우리 서버 안에서 돌려요</a:t>
            </a:r>
          </a:p>
        </p:txBody>
      </p:sp>
      <p:sp>
        <p:nvSpPr>
          <p:cNvPr id="45" name="TextBox 44"/>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지금 실제로 매시간 돌아가고 있습니다</a:t>
            </a:r>
          </a:p>
        </p:txBody>
      </p:sp>
      <p:sp>
        <p:nvSpPr>
          <p:cNvPr id="3" name="Rounded Rectangle 2"/>
          <p:cNvSpPr/>
          <p:nvPr/>
        </p:nvSpPr>
        <p:spPr>
          <a:xfrm>
            <a:off x="676656" y="1453895"/>
            <a:ext cx="6053328" cy="4346448"/>
          </a:xfrm>
          <a:prstGeom prst="roundRect">
            <a:avLst>
              <a:gd name="adj" fmla="val 3000"/>
            </a:avLst>
          </a:prstGeom>
          <a:solidFill>
            <a:srgbClr val="262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 y="1591056"/>
            <a:ext cx="100584" cy="10058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05840" y="1591056"/>
            <a:ext cx="100584" cy="10058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70432" y="1591056"/>
            <a:ext cx="100584" cy="10058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17320" y="1554480"/>
            <a:ext cx="5029200" cy="182880"/>
          </a:xfrm>
          <a:prstGeom prst="roundRect">
            <a:avLst>
              <a:gd name="adj" fmla="val 50000"/>
            </a:avLst>
          </a:prstGeom>
          <a:solidFill>
            <a:srgbClr val="3A3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1554480"/>
            <a:ext cx="4754880" cy="182880"/>
          </a:xfrm>
          <a:prstGeom prst="rect">
            <a:avLst/>
          </a:prstGeom>
          <a:noFill/>
        </p:spPr>
        <p:txBody>
          <a:bodyPr wrap="square" lIns="0" rIns="0" tIns="0" bIns="0" anchor="ctr">
            <a:spAutoFit/>
          </a:bodyPr>
          <a:lstStyle/>
          <a:p>
            <a:pPr algn="l"/>
            <a:r>
              <a:rPr sz="900" b="0">
                <a:solidFill>
                  <a:srgbClr val="C9CED6"/>
                </a:solidFill>
                <a:latin typeface="Malgun Gothic"/>
                <a:ea typeface="Malgun Gothic"/>
                <a:cs typeface="Malgun Gothic"/>
              </a:rPr>
              <a:t>scnuaram.vercel.app</a:t>
            </a:r>
          </a:p>
        </p:txBody>
      </p:sp>
      <p:pic>
        <p:nvPicPr>
          <p:cNvPr id="9" name="Picture 8" descr="desktop-for-me.png"/>
          <p:cNvPicPr>
            <a:picLocks noChangeAspect="1"/>
          </p:cNvPicPr>
          <p:nvPr/>
        </p:nvPicPr>
        <p:blipFill>
          <a:blip r:embed="rId2"/>
          <a:stretch>
            <a:fillRect/>
          </a:stretch>
        </p:blipFill>
        <p:spPr>
          <a:xfrm>
            <a:off x="731520" y="1783080"/>
            <a:ext cx="5943600" cy="3962399"/>
          </a:xfrm>
          <a:prstGeom prst="rect">
            <a:avLst/>
          </a:prstGeom>
        </p:spPr>
      </p:pic>
      <p:sp>
        <p:nvSpPr>
          <p:cNvPr id="10" name="Rounded Rectangle 9"/>
          <p:cNvSpPr/>
          <p:nvPr/>
        </p:nvSpPr>
        <p:spPr>
          <a:xfrm>
            <a:off x="7498079" y="1508760"/>
            <a:ext cx="1920240" cy="1920240"/>
          </a:xfrm>
          <a:prstGeom prst="roundRect">
            <a:avLst>
              <a:gd name="adj" fmla="val 8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1783080"/>
            <a:ext cx="1920240" cy="731520"/>
          </a:xfrm>
          <a:prstGeom prst="rect">
            <a:avLst/>
          </a:prstGeom>
          <a:noFill/>
        </p:spPr>
        <p:txBody>
          <a:bodyPr wrap="square" lIns="0" rIns="0" tIns="0" bIns="0" anchor="t">
            <a:spAutoFit/>
          </a:bodyPr>
          <a:lstStyle/>
          <a:p>
            <a:pPr algn="ctr"/>
            <a:r>
              <a:rPr sz="3200" b="1">
                <a:solidFill>
                  <a:srgbClr val="0058B2"/>
                </a:solidFill>
                <a:latin typeface="Malgun Gothic"/>
                <a:ea typeface="Malgun Gothic"/>
                <a:cs typeface="Malgun Gothic"/>
              </a:rPr>
              <a:t>109곳</a:t>
            </a:r>
          </a:p>
        </p:txBody>
      </p:sp>
      <p:sp>
        <p:nvSpPr>
          <p:cNvPr id="12" name="TextBox 11"/>
          <p:cNvSpPr txBox="1"/>
          <p:nvPr/>
        </p:nvSpPr>
        <p:spPr>
          <a:xfrm>
            <a:off x="7589519" y="2560320"/>
            <a:ext cx="1737360" cy="73152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학교 게시판을
매시간 확인</a:t>
            </a:r>
          </a:p>
        </p:txBody>
      </p:sp>
      <p:sp>
        <p:nvSpPr>
          <p:cNvPr id="13" name="Rounded Rectangle 12"/>
          <p:cNvSpPr/>
          <p:nvPr/>
        </p:nvSpPr>
        <p:spPr>
          <a:xfrm>
            <a:off x="9601200" y="1508760"/>
            <a:ext cx="1920240" cy="1920240"/>
          </a:xfrm>
          <a:prstGeom prst="roundRect">
            <a:avLst>
              <a:gd name="adj" fmla="val 8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0" y="1783080"/>
            <a:ext cx="1920240" cy="731520"/>
          </a:xfrm>
          <a:prstGeom prst="rect">
            <a:avLst/>
          </a:prstGeom>
          <a:noFill/>
        </p:spPr>
        <p:txBody>
          <a:bodyPr wrap="square" lIns="0" rIns="0" tIns="0" bIns="0" anchor="t">
            <a:spAutoFit/>
          </a:bodyPr>
          <a:lstStyle/>
          <a:p>
            <a:pPr algn="ctr"/>
            <a:r>
              <a:rPr sz="3200" b="1">
                <a:solidFill>
                  <a:srgbClr val="0058B2"/>
                </a:solidFill>
                <a:latin typeface="Malgun Gothic"/>
                <a:ea typeface="Malgun Gothic"/>
                <a:cs typeface="Malgun Gothic"/>
              </a:rPr>
              <a:t>3종</a:t>
            </a:r>
          </a:p>
        </p:txBody>
      </p:sp>
      <p:sp>
        <p:nvSpPr>
          <p:cNvPr id="15" name="TextBox 14"/>
          <p:cNvSpPr txBox="1"/>
          <p:nvPr/>
        </p:nvSpPr>
        <p:spPr>
          <a:xfrm>
            <a:off x="9692640" y="2560320"/>
            <a:ext cx="1737360" cy="73152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큐넷·데이터자격·
K-Startup 공공 API</a:t>
            </a:r>
          </a:p>
        </p:txBody>
      </p:sp>
      <p:sp>
        <p:nvSpPr>
          <p:cNvPr id="16" name="Rounded Rectangle 15"/>
          <p:cNvSpPr/>
          <p:nvPr/>
        </p:nvSpPr>
        <p:spPr>
          <a:xfrm>
            <a:off x="7498079" y="3657600"/>
            <a:ext cx="1920240" cy="1920240"/>
          </a:xfrm>
          <a:prstGeom prst="roundRect">
            <a:avLst>
              <a:gd name="adj" fmla="val 8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3931920"/>
            <a:ext cx="1920240" cy="731520"/>
          </a:xfrm>
          <a:prstGeom prst="rect">
            <a:avLst/>
          </a:prstGeom>
          <a:noFill/>
        </p:spPr>
        <p:txBody>
          <a:bodyPr wrap="square" lIns="0" rIns="0" tIns="0" bIns="0" anchor="t">
            <a:spAutoFit/>
          </a:bodyPr>
          <a:lstStyle/>
          <a:p>
            <a:pPr algn="ctr"/>
            <a:r>
              <a:rPr sz="3200" b="1">
                <a:solidFill>
                  <a:srgbClr val="0058B2"/>
                </a:solidFill>
                <a:latin typeface="Malgun Gothic"/>
                <a:ea typeface="Malgun Gothic"/>
                <a:cs typeface="Malgun Gothic"/>
              </a:rPr>
              <a:t>70개</a:t>
            </a:r>
          </a:p>
        </p:txBody>
      </p:sp>
      <p:sp>
        <p:nvSpPr>
          <p:cNvPr id="18" name="TextBox 17"/>
          <p:cNvSpPr txBox="1"/>
          <p:nvPr/>
        </p:nvSpPr>
        <p:spPr>
          <a:xfrm>
            <a:off x="7589519" y="4709160"/>
            <a:ext cx="1737360" cy="73152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학과 목록에서
골라서 추천</a:t>
            </a:r>
          </a:p>
        </p:txBody>
      </p:sp>
      <p:sp>
        <p:nvSpPr>
          <p:cNvPr id="19" name="Rounded Rectangle 18"/>
          <p:cNvSpPr/>
          <p:nvPr/>
        </p:nvSpPr>
        <p:spPr>
          <a:xfrm>
            <a:off x="9601200" y="3657600"/>
            <a:ext cx="1920240" cy="1920240"/>
          </a:xfrm>
          <a:prstGeom prst="roundRect">
            <a:avLst>
              <a:gd name="adj" fmla="val 8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931920"/>
            <a:ext cx="1920240" cy="731520"/>
          </a:xfrm>
          <a:prstGeom prst="rect">
            <a:avLst/>
          </a:prstGeom>
          <a:noFill/>
        </p:spPr>
        <p:txBody>
          <a:bodyPr wrap="square" lIns="0" rIns="0" tIns="0" bIns="0" anchor="t">
            <a:spAutoFit/>
          </a:bodyPr>
          <a:lstStyle/>
          <a:p>
            <a:pPr algn="ctr"/>
            <a:r>
              <a:rPr sz="3200" b="1">
                <a:solidFill>
                  <a:srgbClr val="0058B2"/>
                </a:solidFill>
                <a:latin typeface="Malgun Gothic"/>
                <a:ea typeface="Malgun Gothic"/>
                <a:cs typeface="Malgun Gothic"/>
              </a:rPr>
              <a:t>0원</a:t>
            </a:r>
          </a:p>
        </p:txBody>
      </p:sp>
      <p:sp>
        <p:nvSpPr>
          <p:cNvPr id="21" name="TextBox 20"/>
          <p:cNvSpPr txBox="1"/>
          <p:nvPr/>
        </p:nvSpPr>
        <p:spPr>
          <a:xfrm>
            <a:off x="9692640" y="4709160"/>
            <a:ext cx="1737360" cy="731520"/>
          </a:xfrm>
          <a:prstGeom prst="rect">
            <a:avLst/>
          </a:prstGeom>
          <a:noFill/>
        </p:spPr>
        <p:txBody>
          <a:bodyPr wrap="square" lIns="0" rIns="0" tIns="0" bIns="0" anchor="t">
            <a:spAutoFit/>
          </a:bodyPr>
          <a:lstStyle/>
          <a:p>
            <a:pPr algn="ctr"/>
            <a:r>
              <a:rPr sz="1200" b="0">
                <a:solidFill>
                  <a:srgbClr val="666E7A"/>
                </a:solidFill>
                <a:latin typeface="Malgun Gothic"/>
                <a:ea typeface="Malgun Gothic"/>
                <a:cs typeface="Malgun Gothic"/>
              </a:rPr>
              <a:t>서버·AI
운영 비용</a:t>
            </a:r>
          </a:p>
        </p:txBody>
      </p:sp>
      <p:sp>
        <p:nvSpPr>
          <p:cNvPr id="22" name="TextBox 21"/>
          <p:cNvSpPr txBox="1"/>
          <p:nvPr/>
        </p:nvSpPr>
        <p:spPr>
          <a:xfrm>
            <a:off x="640080" y="6035040"/>
            <a:ext cx="10972800" cy="365760"/>
          </a:xfrm>
          <a:prstGeom prst="rect">
            <a:avLst/>
          </a:prstGeom>
          <a:noFill/>
        </p:spPr>
        <p:txBody>
          <a:bodyPr wrap="square" lIns="0" rIns="0" tIns="0" bIns="0" anchor="t">
            <a:spAutoFit/>
          </a:bodyPr>
          <a:lstStyle/>
          <a:p>
            <a:pPr algn="ctr"/>
            <a:r>
              <a:rPr sz="1400" b="1">
                <a:solidFill>
                  <a:srgbClr val="1F232B"/>
                </a:solidFill>
                <a:latin typeface="Malgun Gothic"/>
                <a:ea typeface="Malgun Gothic"/>
                <a:cs typeface="Malgun Gothic"/>
              </a:rPr>
              <a:t>휴대폰에서도, 컴퓨터에서도 같은 주소로 열립니다. 설치 없이 '홈 화면에 추가'하면 앱처럼 씁니다.</a:t>
            </a:r>
          </a:p>
        </p:txBody>
      </p:sp>
      <p:sp>
        <p:nvSpPr>
          <p:cNvPr id="23" name="TextBox 22"/>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학생들이 쓸수록 더 정확해집니다</a:t>
            </a:r>
          </a:p>
        </p:txBody>
      </p:sp>
      <p:sp>
        <p:nvSpPr>
          <p:cNvPr id="3" name="Rounded Rectangle 2"/>
          <p:cNvSpPr/>
          <p:nvPr/>
        </p:nvSpPr>
        <p:spPr>
          <a:xfrm>
            <a:off x="594360" y="2011680"/>
            <a:ext cx="3474720" cy="26517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283464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지금</a:t>
            </a:r>
          </a:p>
        </p:txBody>
      </p:sp>
      <p:sp>
        <p:nvSpPr>
          <p:cNvPr id="5" name="TextBox 4"/>
          <p:cNvSpPr txBox="1"/>
          <p:nvPr/>
        </p:nvSpPr>
        <p:spPr>
          <a:xfrm>
            <a:off x="914400" y="2743200"/>
            <a:ext cx="2926080" cy="548640"/>
          </a:xfrm>
          <a:prstGeom prst="rect">
            <a:avLst/>
          </a:prstGeom>
          <a:noFill/>
        </p:spPr>
        <p:txBody>
          <a:bodyPr wrap="square" lIns="0" rIns="0" tIns="0" bIns="0" anchor="t">
            <a:spAutoFit/>
          </a:bodyPr>
          <a:lstStyle/>
          <a:p>
            <a:pPr algn="l"/>
            <a:r>
              <a:rPr sz="2000" b="1">
                <a:solidFill>
                  <a:srgbClr val="1F232B"/>
                </a:solidFill>
                <a:latin typeface="Malgun Gothic"/>
                <a:ea typeface="Malgun Gothic"/>
                <a:cs typeface="Malgun Gothic"/>
              </a:rPr>
              <a:t>누구나 쓸 수 있는 웹앱</a:t>
            </a:r>
          </a:p>
        </p:txBody>
      </p:sp>
      <p:sp>
        <p:nvSpPr>
          <p:cNvPr id="6" name="TextBox 5"/>
          <p:cNvSpPr txBox="1"/>
          <p:nvPr/>
        </p:nvSpPr>
        <p:spPr>
          <a:xfrm>
            <a:off x="914400" y="3474720"/>
            <a:ext cx="2926080" cy="1645920"/>
          </a:xfrm>
          <a:prstGeom prst="rect">
            <a:avLst/>
          </a:prstGeom>
          <a:noFill/>
        </p:spPr>
        <p:txBody>
          <a:bodyPr wrap="square" lIns="0" rIns="0" tIns="0" bIns="0" anchor="t">
            <a:spAutoFit/>
          </a:bodyPr>
          <a:lstStyle/>
          <a:p>
            <a:pPr algn="l">
              <a:spcAft>
                <a:spcPts val="200"/>
              </a:spcAft>
            </a:pPr>
            <a:r>
              <a:rPr sz="1400" b="0">
                <a:solidFill>
                  <a:srgbClr val="666E7A"/>
                </a:solidFill>
                <a:latin typeface="Malgun Gothic"/>
                <a:ea typeface="Malgun Gothic"/>
                <a:cs typeface="Malgun Gothic"/>
              </a:rPr>
              <a:t>매시간 수집, 추천, 마감 알림까지
실제 주소에서 운영 중입니다.</a:t>
            </a:r>
          </a:p>
        </p:txBody>
      </p:sp>
      <p:sp>
        <p:nvSpPr>
          <p:cNvPr id="7" name="Right Arrow 6"/>
          <p:cNvSpPr/>
          <p:nvPr/>
        </p:nvSpPr>
        <p:spPr>
          <a:xfrm>
            <a:off x="4096512" y="3154680"/>
            <a:ext cx="292608"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4840" y="2011680"/>
            <a:ext cx="3474720" cy="265176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0" y="2286000"/>
            <a:ext cx="2834640" cy="365760"/>
          </a:xfrm>
          <a:prstGeom prst="rect">
            <a:avLst/>
          </a:prstGeom>
          <a:noFill/>
        </p:spPr>
        <p:txBody>
          <a:bodyPr wrap="square" lIns="0" rIns="0" tIns="0" bIns="0" anchor="t">
            <a:spAutoFit/>
          </a:bodyPr>
          <a:lstStyle/>
          <a:p>
            <a:pPr algn="l"/>
            <a:r>
              <a:rPr sz="1400" b="1">
                <a:solidFill>
                  <a:srgbClr val="0058B2"/>
                </a:solidFill>
                <a:latin typeface="Malgun Gothic"/>
                <a:ea typeface="Malgun Gothic"/>
                <a:cs typeface="Malgun Gothic"/>
              </a:rPr>
              <a:t>다음</a:t>
            </a:r>
          </a:p>
        </p:txBody>
      </p:sp>
      <p:sp>
        <p:nvSpPr>
          <p:cNvPr id="10" name="TextBox 9"/>
          <p:cNvSpPr txBox="1"/>
          <p:nvPr/>
        </p:nvSpPr>
        <p:spPr>
          <a:xfrm>
            <a:off x="4754880" y="2743200"/>
            <a:ext cx="2926080" cy="548640"/>
          </a:xfrm>
          <a:prstGeom prst="rect">
            <a:avLst/>
          </a:prstGeom>
          <a:noFill/>
        </p:spPr>
        <p:txBody>
          <a:bodyPr wrap="square" lIns="0" rIns="0" tIns="0" bIns="0" anchor="t">
            <a:spAutoFit/>
          </a:bodyPr>
          <a:lstStyle/>
          <a:p>
            <a:pPr algn="l"/>
            <a:r>
              <a:rPr sz="2000" b="1">
                <a:solidFill>
                  <a:srgbClr val="1F232B"/>
                </a:solidFill>
                <a:latin typeface="Malgun Gothic"/>
                <a:ea typeface="Malgun Gothic"/>
                <a:cs typeface="Malgun Gothic"/>
              </a:rPr>
              <a:t>학생 의견으로 다듬기</a:t>
            </a:r>
          </a:p>
        </p:txBody>
      </p:sp>
      <p:sp>
        <p:nvSpPr>
          <p:cNvPr id="11" name="TextBox 10"/>
          <p:cNvSpPr txBox="1"/>
          <p:nvPr/>
        </p:nvSpPr>
        <p:spPr>
          <a:xfrm>
            <a:off x="4754880" y="3474720"/>
            <a:ext cx="2926080" cy="1645920"/>
          </a:xfrm>
          <a:prstGeom prst="rect">
            <a:avLst/>
          </a:prstGeom>
          <a:noFill/>
        </p:spPr>
        <p:txBody>
          <a:bodyPr wrap="square" lIns="0" rIns="0" tIns="0" bIns="0" anchor="t">
            <a:spAutoFit/>
          </a:bodyPr>
          <a:lstStyle/>
          <a:p>
            <a:pPr algn="l">
              <a:spcAft>
                <a:spcPts val="200"/>
              </a:spcAft>
            </a:pPr>
            <a:r>
              <a:rPr sz="1400" b="0">
                <a:solidFill>
                  <a:srgbClr val="666E7A"/>
                </a:solidFill>
                <a:latin typeface="Malgun Gothic"/>
                <a:ea typeface="Malgun Gothic"/>
                <a:cs typeface="Malgun Gothic"/>
              </a:rPr>
              <a:t>지역 한정 공고 표시, 추천이 빗나간
공지를 모아 규칙을 고칩니다.</a:t>
            </a:r>
          </a:p>
        </p:txBody>
      </p:sp>
      <p:sp>
        <p:nvSpPr>
          <p:cNvPr id="12" name="Right Arrow 11"/>
          <p:cNvSpPr/>
          <p:nvPr/>
        </p:nvSpPr>
        <p:spPr>
          <a:xfrm>
            <a:off x="7936992" y="3154680"/>
            <a:ext cx="292608"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75320" y="2011680"/>
            <a:ext cx="3474720" cy="2651760"/>
          </a:xfrm>
          <a:prstGeom prst="roundRect">
            <a:avLst>
              <a:gd name="adj" fmla="val 6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0" y="2286000"/>
            <a:ext cx="2834640" cy="365760"/>
          </a:xfrm>
          <a:prstGeom prst="rect">
            <a:avLst/>
          </a:prstGeom>
          <a:noFill/>
        </p:spPr>
        <p:txBody>
          <a:bodyPr wrap="square" lIns="0" rIns="0" tIns="0" bIns="0" anchor="t">
            <a:spAutoFit/>
          </a:bodyPr>
          <a:lstStyle/>
          <a:p>
            <a:pPr algn="l"/>
            <a:r>
              <a:rPr sz="1400" b="1">
                <a:solidFill>
                  <a:srgbClr val="1E9E6A"/>
                </a:solidFill>
                <a:latin typeface="Malgun Gothic"/>
                <a:ea typeface="Malgun Gothic"/>
                <a:cs typeface="Malgun Gothic"/>
              </a:rPr>
              <a:t>나중에</a:t>
            </a:r>
          </a:p>
        </p:txBody>
      </p:sp>
      <p:sp>
        <p:nvSpPr>
          <p:cNvPr id="15" name="TextBox 14"/>
          <p:cNvSpPr txBox="1"/>
          <p:nvPr/>
        </p:nvSpPr>
        <p:spPr>
          <a:xfrm>
            <a:off x="8595360" y="2743200"/>
            <a:ext cx="2926080" cy="548640"/>
          </a:xfrm>
          <a:prstGeom prst="rect">
            <a:avLst/>
          </a:prstGeom>
          <a:noFill/>
        </p:spPr>
        <p:txBody>
          <a:bodyPr wrap="square" lIns="0" rIns="0" tIns="0" bIns="0" anchor="t">
            <a:spAutoFit/>
          </a:bodyPr>
          <a:lstStyle/>
          <a:p>
            <a:pPr algn="l"/>
            <a:r>
              <a:rPr sz="2000" b="1">
                <a:solidFill>
                  <a:srgbClr val="1F232B"/>
                </a:solidFill>
                <a:latin typeface="Malgun Gothic"/>
                <a:ea typeface="Malgun Gothic"/>
                <a:cs typeface="Malgun Gothic"/>
              </a:rPr>
              <a:t>다른 학과·다른 학교로</a:t>
            </a:r>
          </a:p>
        </p:txBody>
      </p:sp>
      <p:sp>
        <p:nvSpPr>
          <p:cNvPr id="16" name="TextBox 15"/>
          <p:cNvSpPr txBox="1"/>
          <p:nvPr/>
        </p:nvSpPr>
        <p:spPr>
          <a:xfrm>
            <a:off x="8595360" y="3474720"/>
            <a:ext cx="2926080" cy="1645920"/>
          </a:xfrm>
          <a:prstGeom prst="rect">
            <a:avLst/>
          </a:prstGeom>
          <a:noFill/>
        </p:spPr>
        <p:txBody>
          <a:bodyPr wrap="square" lIns="0" rIns="0" tIns="0" bIns="0" anchor="t">
            <a:spAutoFit/>
          </a:bodyPr>
          <a:lstStyle/>
          <a:p>
            <a:pPr algn="l">
              <a:spcAft>
                <a:spcPts val="200"/>
              </a:spcAft>
            </a:pPr>
            <a:r>
              <a:rPr sz="1400" b="0">
                <a:solidFill>
                  <a:srgbClr val="666E7A"/>
                </a:solidFill>
                <a:latin typeface="Malgun Gothic"/>
                <a:ea typeface="Malgun Gothic"/>
                <a:cs typeface="Malgun Gothic"/>
              </a:rPr>
              <a:t>같은 게시판 시스템을 쓰는 곳이면
주소만 추가해 넓힐 수 있습니다.</a:t>
            </a:r>
          </a:p>
        </p:txBody>
      </p:sp>
      <p:sp>
        <p:nvSpPr>
          <p:cNvPr id="17" name="TextBox 16"/>
          <p:cNvSpPr txBox="1"/>
          <p:nvPr/>
        </p:nvSpPr>
        <p:spPr>
          <a:xfrm>
            <a:off x="594360" y="5257800"/>
            <a:ext cx="10972800" cy="457200"/>
          </a:xfrm>
          <a:prstGeom prst="rect">
            <a:avLst/>
          </a:prstGeom>
          <a:noFill/>
        </p:spPr>
        <p:txBody>
          <a:bodyPr wrap="square" lIns="0" rIns="0" tIns="0" bIns="0" anchor="t">
            <a:spAutoFit/>
          </a:bodyPr>
          <a:lstStyle/>
          <a:p>
            <a:pPr algn="ctr"/>
            <a:r>
              <a:rPr sz="1800" b="1">
                <a:solidFill>
                  <a:srgbClr val="1F232B"/>
                </a:solidFill>
                <a:latin typeface="Malgun Gothic"/>
                <a:ea typeface="Malgun Gothic"/>
                <a:cs typeface="Malgun Gothic"/>
              </a:rPr>
              <a:t>학교 사이트를 바꿀 필요 없이, 이미 있는 게시판을 그대로 읽습니다.</a:t>
            </a:r>
          </a:p>
        </p:txBody>
      </p:sp>
      <p:sp>
        <p:nvSpPr>
          <p:cNvPr id="18" name="TextBox 17"/>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731520" y="822960"/>
            <a:ext cx="5486400" cy="365760"/>
          </a:xfrm>
          <a:prstGeom prst="rect">
            <a:avLst/>
          </a:prstGeom>
          <a:noFill/>
        </p:spPr>
        <p:txBody>
          <a:bodyPr wrap="square" lIns="0" rIns="0" tIns="0" bIns="0" anchor="t">
            <a:spAutoFit/>
          </a:bodyPr>
          <a:lstStyle/>
          <a:p>
            <a:pPr algn="l"/>
            <a:r>
              <a:rPr sz="1600" b="1">
                <a:solidFill>
                  <a:srgbClr val="A9CBF2"/>
                </a:solidFill>
                <a:latin typeface="Malgun Gothic"/>
                <a:ea typeface="Malgun Gothic"/>
                <a:cs typeface="Malgun Gothic"/>
              </a:rPr>
              <a:t>감사합니다</a:t>
            </a:r>
          </a:p>
        </p:txBody>
      </p:sp>
      <p:sp>
        <p:nvSpPr>
          <p:cNvPr id="3" name="TextBox 2"/>
          <p:cNvSpPr txBox="1"/>
          <p:nvPr/>
        </p:nvSpPr>
        <p:spPr>
          <a:xfrm>
            <a:off x="731520" y="1463040"/>
            <a:ext cx="6858000" cy="1737360"/>
          </a:xfrm>
          <a:prstGeom prst="rect">
            <a:avLst/>
          </a:prstGeom>
          <a:noFill/>
        </p:spPr>
        <p:txBody>
          <a:bodyPr wrap="square" lIns="0" rIns="0" tIns="0" bIns="0" anchor="t">
            <a:spAutoFit/>
          </a:bodyPr>
          <a:lstStyle/>
          <a:p>
            <a:pPr algn="l"/>
            <a:r>
              <a:rPr sz="4600" b="1">
                <a:solidFill>
                  <a:srgbClr val="FFFFFF"/>
                </a:solidFill>
                <a:latin typeface="Malgun Gothic"/>
                <a:ea typeface="Malgun Gothic"/>
                <a:cs typeface="Malgun Gothic"/>
              </a:rPr>
              <a:t>휴대폰으로</a:t>
            </a:r>
          </a:p>
          <a:p>
            <a:pPr algn="l"/>
            <a:r>
              <a:rPr sz="4600" b="1">
                <a:solidFill>
                  <a:srgbClr val="FFFFFF"/>
                </a:solidFill>
                <a:latin typeface="Malgun Gothic"/>
                <a:ea typeface="Malgun Gothic"/>
                <a:cs typeface="Malgun Gothic"/>
              </a:rPr>
              <a:t>직접 써 보세요</a:t>
            </a:r>
          </a:p>
        </p:txBody>
      </p:sp>
      <p:sp>
        <p:nvSpPr>
          <p:cNvPr id="4" name="TextBox 3"/>
          <p:cNvSpPr txBox="1"/>
          <p:nvPr/>
        </p:nvSpPr>
        <p:spPr>
          <a:xfrm>
            <a:off x="749808" y="3429000"/>
            <a:ext cx="6858000" cy="822960"/>
          </a:xfrm>
          <a:prstGeom prst="rect">
            <a:avLst/>
          </a:prstGeom>
          <a:noFill/>
        </p:spPr>
        <p:txBody>
          <a:bodyPr wrap="square" lIns="0" rIns="0" tIns="0" bIns="0" anchor="t">
            <a:spAutoFit/>
          </a:bodyPr>
          <a:lstStyle/>
          <a:p>
            <a:pPr algn="l">
              <a:spcAft>
                <a:spcPts val="400"/>
              </a:spcAft>
            </a:pPr>
            <a:r>
              <a:rPr sz="1500" b="0">
                <a:solidFill>
                  <a:srgbClr val="FFFFFF"/>
                </a:solidFill>
                <a:latin typeface="Malgun Gothic"/>
                <a:ea typeface="Malgun Gothic"/>
                <a:cs typeface="Malgun Gothic"/>
              </a:rPr>
              <a:t>카메라로 오른쪽 QR을 찍으면 바로 열립니다.</a:t>
            </a:r>
          </a:p>
          <a:p>
            <a:pPr algn="l">
              <a:spcAft>
                <a:spcPts val="400"/>
              </a:spcAft>
            </a:pPr>
            <a:r>
              <a:rPr sz="1500" b="0">
                <a:solidFill>
                  <a:srgbClr val="FFFFFF"/>
                </a:solidFill>
                <a:latin typeface="Malgun Gothic"/>
                <a:ea typeface="Malgun Gothic"/>
                <a:cs typeface="Malgun Gothic"/>
              </a:rPr>
              <a:t>학과를 고르면 30초 안에 나에게 맞는 공지가 보여요.</a:t>
            </a:r>
          </a:p>
        </p:txBody>
      </p:sp>
      <p:sp>
        <p:nvSpPr>
          <p:cNvPr id="5" name="Rounded Rectangle 4">
            <a:hlinkClick r:id="rId2"/>
          </p:cNvPr>
          <p:cNvSpPr/>
          <p:nvPr/>
        </p:nvSpPr>
        <p:spPr>
          <a:xfrm>
            <a:off x="749808" y="4526280"/>
            <a:ext cx="3017520" cy="640080"/>
          </a:xfrm>
          <a:prstGeom prst="roundRect">
            <a:avLst>
              <a:gd name="adj" fmla="val 50000"/>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526280"/>
            <a:ext cx="3017520" cy="640080"/>
          </a:xfrm>
          <a:prstGeom prst="rect">
            <a:avLst/>
          </a:prstGeom>
          <a:noFill/>
        </p:spPr>
        <p:txBody>
          <a:bodyPr wrap="square" lIns="0" rIns="0" tIns="0" bIns="0" anchor="ctr">
            <a:spAutoFit/>
          </a:bodyPr>
          <a:lstStyle/>
          <a:p>
            <a:pPr algn="ctr"/>
            <a:r>
              <a:rPr sz="1700" b="1">
                <a:solidFill>
                  <a:srgbClr val="FFFFFF"/>
                </a:solidFill>
                <a:latin typeface="Malgun Gothic"/>
                <a:ea typeface="Malgun Gothic"/>
                <a:cs typeface="Malgun Gothic"/>
              </a:rPr>
              <a:t>▶  지금 시연해 볼게요</a:t>
            </a:r>
          </a:p>
        </p:txBody>
      </p:sp>
      <p:sp>
        <p:nvSpPr>
          <p:cNvPr id="7" name="TextBox 6"/>
          <p:cNvSpPr txBox="1"/>
          <p:nvPr/>
        </p:nvSpPr>
        <p:spPr>
          <a:xfrm>
            <a:off x="749808" y="557784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바로 가기</a:t>
            </a:r>
          </a:p>
        </p:txBody>
      </p:sp>
      <p:sp>
        <p:nvSpPr>
          <p:cNvPr id="8" name="TextBox 7"/>
          <p:cNvSpPr txBox="1"/>
          <p:nvPr/>
        </p:nvSpPr>
        <p:spPr>
          <a:xfrm>
            <a:off x="1828800" y="557784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scnuaram.vercel.app</a:t>
            </a:r>
          </a:p>
        </p:txBody>
      </p:sp>
      <p:sp>
        <p:nvSpPr>
          <p:cNvPr id="9" name="TextBox 8"/>
          <p:cNvSpPr txBox="1"/>
          <p:nvPr/>
        </p:nvSpPr>
        <p:spPr>
          <a:xfrm>
            <a:off x="749808" y="594360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소스 코드</a:t>
            </a:r>
          </a:p>
        </p:txBody>
      </p:sp>
      <p:sp>
        <p:nvSpPr>
          <p:cNvPr id="10" name="TextBox 9"/>
          <p:cNvSpPr txBox="1"/>
          <p:nvPr/>
        </p:nvSpPr>
        <p:spPr>
          <a:xfrm>
            <a:off x="1828800" y="594360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github.com/GOBIEBERPA/scnu-lens</a:t>
            </a:r>
          </a:p>
        </p:txBody>
      </p:sp>
      <p:sp>
        <p:nvSpPr>
          <p:cNvPr id="11" name="Rounded Rectangle 10"/>
          <p:cNvSpPr/>
          <p:nvPr/>
        </p:nvSpPr>
        <p:spPr>
          <a:xfrm>
            <a:off x="8138160" y="1371600"/>
            <a:ext cx="3291840" cy="3291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qr-scnuaram.png">
            <a:hlinkClick r:id="rId2"/>
          </p:cNvPr>
          <p:cNvPicPr>
            <a:picLocks noChangeAspect="1"/>
          </p:cNvPicPr>
          <p:nvPr/>
        </p:nvPicPr>
        <p:blipFill>
          <a:blip r:embed="rId3"/>
          <a:stretch>
            <a:fillRect/>
          </a:stretch>
        </p:blipFill>
        <p:spPr>
          <a:xfrm>
            <a:off x="8321040" y="1554480"/>
            <a:ext cx="2926080" cy="2926080"/>
          </a:xfrm>
          <a:prstGeom prst="rect">
            <a:avLst/>
          </a:prstGeom>
        </p:spPr>
      </p:pic>
      <p:sp>
        <p:nvSpPr>
          <p:cNvPr id="13" name="TextBox 12"/>
          <p:cNvSpPr txBox="1"/>
          <p:nvPr/>
        </p:nvSpPr>
        <p:spPr>
          <a:xfrm>
            <a:off x="8138160" y="4846320"/>
            <a:ext cx="3291840" cy="365760"/>
          </a:xfrm>
          <a:prstGeom prst="rect">
            <a:avLst/>
          </a:prstGeom>
          <a:noFill/>
        </p:spPr>
        <p:txBody>
          <a:bodyPr wrap="square" lIns="0" rIns="0" tIns="0" bIns="0" anchor="t">
            <a:spAutoFit/>
          </a:bodyPr>
          <a:lstStyle/>
          <a:p>
            <a:pPr algn="ctr"/>
            <a:r>
              <a:rPr sz="1300" b="0">
                <a:solidFill>
                  <a:srgbClr val="A9CBF2"/>
                </a:solidFill>
                <a:latin typeface="Malgun Gothic"/>
                <a:ea typeface="Malgun Gothic"/>
                <a:cs typeface="Malgun Gothic"/>
              </a:rPr>
              <a:t>scnuaram.vercel.app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